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5" r:id="rId4"/>
    <p:sldId id="258" r:id="rId5"/>
    <p:sldId id="259" r:id="rId6"/>
    <p:sldId id="276" r:id="rId7"/>
    <p:sldId id="277" r:id="rId8"/>
    <p:sldId id="260" r:id="rId9"/>
    <p:sldId id="261" r:id="rId10"/>
    <p:sldId id="279" r:id="rId11"/>
    <p:sldId id="262" r:id="rId12"/>
    <p:sldId id="280" r:id="rId13"/>
    <p:sldId id="263" r:id="rId14"/>
    <p:sldId id="264" r:id="rId15"/>
    <p:sldId id="265" r:id="rId16"/>
    <p:sldId id="266" r:id="rId17"/>
    <p:sldId id="267" r:id="rId18"/>
    <p:sldId id="269" r:id="rId19"/>
    <p:sldId id="278" r:id="rId20"/>
    <p:sldId id="271" r:id="rId21"/>
    <p:sldId id="273" r:id="rId22"/>
    <p:sldId id="272" r:id="rId23"/>
    <p:sldId id="274" r:id="rId2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AA8D4E-5165-4895-820C-46760BAF7283}" v="15" dt="2026-06-11T09:57:23.62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91" d="100"/>
          <a:sy n="91" d="100"/>
        </p:scale>
        <p:origin x="528" y="-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ufic Jandah" userId="e05254c72100a3f9" providerId="LiveId" clId="{991C9960-FF60-4457-B952-92510028CE06}"/>
    <pc:docChg chg="undo redo custSel addSld modSld">
      <pc:chgData name="Toufic Jandah" userId="e05254c72100a3f9" providerId="LiveId" clId="{991C9960-FF60-4457-B952-92510028CE06}" dt="2026-06-11T09:57:46.713" v="571" actId="1076"/>
      <pc:docMkLst>
        <pc:docMk/>
      </pc:docMkLst>
      <pc:sldChg chg="modSp mod">
        <pc:chgData name="Toufic Jandah" userId="e05254c72100a3f9" providerId="LiveId" clId="{991C9960-FF60-4457-B952-92510028CE06}" dt="2026-05-14T10:54:30.524" v="454" actId="20577"/>
        <pc:sldMkLst>
          <pc:docMk/>
          <pc:sldMk cId="0" sldId="256"/>
        </pc:sldMkLst>
        <pc:spChg chg="mod">
          <ac:chgData name="Toufic Jandah" userId="e05254c72100a3f9" providerId="LiveId" clId="{991C9960-FF60-4457-B952-92510028CE06}" dt="2026-05-14T10:54:30.524" v="454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Toufic Jandah" userId="e05254c72100a3f9" providerId="LiveId" clId="{991C9960-FF60-4457-B952-92510028CE06}" dt="2026-05-12T08:19:56.632" v="3" actId="20577"/>
        <pc:sldMkLst>
          <pc:docMk/>
          <pc:sldMk cId="0" sldId="257"/>
        </pc:sldMkLst>
        <pc:spChg chg="mod">
          <ac:chgData name="Toufic Jandah" userId="e05254c72100a3f9" providerId="LiveId" clId="{991C9960-FF60-4457-B952-92510028CE06}" dt="2026-05-12T08:19:56.632" v="3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">
        <pc:chgData name="Toufic Jandah" userId="e05254c72100a3f9" providerId="LiveId" clId="{991C9960-FF60-4457-B952-92510028CE06}" dt="2026-05-12T08:20:12.491" v="5"/>
        <pc:sldMkLst>
          <pc:docMk/>
          <pc:sldMk cId="0" sldId="258"/>
        </pc:sldMkLst>
        <pc:spChg chg="mod">
          <ac:chgData name="Toufic Jandah" userId="e05254c72100a3f9" providerId="LiveId" clId="{991C9960-FF60-4457-B952-92510028CE06}" dt="2026-05-12T08:20:12.491" v="5"/>
          <ac:spMkLst>
            <pc:docMk/>
            <pc:sldMk cId="0" sldId="258"/>
            <ac:spMk id="13" creationId="{00000000-0000-0000-0000-000000000000}"/>
          </ac:spMkLst>
        </pc:spChg>
      </pc:sldChg>
      <pc:sldChg chg="addSp delSp modSp mod">
        <pc:chgData name="Toufic Jandah" userId="e05254c72100a3f9" providerId="LiveId" clId="{991C9960-FF60-4457-B952-92510028CE06}" dt="2026-06-10T22:18:00.040" v="490" actId="20577"/>
        <pc:sldMkLst>
          <pc:docMk/>
          <pc:sldMk cId="0" sldId="259"/>
        </pc:sldMkLst>
        <pc:spChg chg="add del mod">
          <ac:chgData name="Toufic Jandah" userId="e05254c72100a3f9" providerId="LiveId" clId="{991C9960-FF60-4457-B952-92510028CE06}" dt="2026-06-10T22:18:00.040" v="490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Toufic Jandah" userId="e05254c72100a3f9" providerId="LiveId" clId="{991C9960-FF60-4457-B952-92510028CE06}" dt="2026-05-12T08:20:15.385" v="6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Toufic Jandah" userId="e05254c72100a3f9" providerId="LiveId" clId="{991C9960-FF60-4457-B952-92510028CE06}" dt="2026-05-12T08:20:54.585" v="15" actId="1076"/>
        <pc:sldMkLst>
          <pc:docMk/>
          <pc:sldMk cId="0" sldId="260"/>
        </pc:sldMkLst>
        <pc:spChg chg="mod">
          <ac:chgData name="Toufic Jandah" userId="e05254c72100a3f9" providerId="LiveId" clId="{991C9960-FF60-4457-B952-92510028CE06}" dt="2026-05-12T08:20:54.585" v="15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Toufic Jandah" userId="e05254c72100a3f9" providerId="LiveId" clId="{991C9960-FF60-4457-B952-92510028CE06}" dt="2026-05-12T08:20:50.328" v="14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Toufic Jandah" userId="e05254c72100a3f9" providerId="LiveId" clId="{991C9960-FF60-4457-B952-92510028CE06}" dt="2026-05-12T09:40:04.612" v="54" actId="20577"/>
        <pc:sldMkLst>
          <pc:docMk/>
          <pc:sldMk cId="0" sldId="261"/>
        </pc:sldMkLst>
        <pc:spChg chg="mod">
          <ac:chgData name="Toufic Jandah" userId="e05254c72100a3f9" providerId="LiveId" clId="{991C9960-FF60-4457-B952-92510028CE06}" dt="2026-05-12T09:40:04.612" v="54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Toufic Jandah" userId="e05254c72100a3f9" providerId="LiveId" clId="{991C9960-FF60-4457-B952-92510028CE06}" dt="2026-05-12T08:20:57.603" v="16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Toufic Jandah" userId="e05254c72100a3f9" providerId="LiveId" clId="{991C9960-FF60-4457-B952-92510028CE06}" dt="2026-06-10T22:18:56.739" v="501" actId="1035"/>
        <pc:sldMkLst>
          <pc:docMk/>
          <pc:sldMk cId="0" sldId="262"/>
        </pc:sldMkLst>
        <pc:spChg chg="mod">
          <ac:chgData name="Toufic Jandah" userId="e05254c72100a3f9" providerId="LiveId" clId="{991C9960-FF60-4457-B952-92510028CE06}" dt="2026-06-10T22:18:56.739" v="501" actId="1035"/>
          <ac:spMkLst>
            <pc:docMk/>
            <pc:sldMk cId="0" sldId="262"/>
            <ac:spMk id="7" creationId="{00000000-0000-0000-0000-000000000000}"/>
          </ac:spMkLst>
        </pc:spChg>
        <pc:spChg chg="mod">
          <ac:chgData name="Toufic Jandah" userId="e05254c72100a3f9" providerId="LiveId" clId="{991C9960-FF60-4457-B952-92510028CE06}" dt="2026-05-12T08:21:00.527" v="17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Toufic Jandah" userId="e05254c72100a3f9" providerId="LiveId" clId="{991C9960-FF60-4457-B952-92510028CE06}" dt="2026-06-10T22:19:25.134" v="503" actId="14100"/>
        <pc:sldMkLst>
          <pc:docMk/>
          <pc:sldMk cId="0" sldId="263"/>
        </pc:sldMkLst>
        <pc:spChg chg="mod">
          <ac:chgData name="Toufic Jandah" userId="e05254c72100a3f9" providerId="LiveId" clId="{991C9960-FF60-4457-B952-92510028CE06}" dt="2026-06-10T22:19:25.134" v="503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Toufic Jandah" userId="e05254c72100a3f9" providerId="LiveId" clId="{991C9960-FF60-4457-B952-92510028CE06}" dt="2026-05-12T08:21:04.351" v="18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Toufic Jandah" userId="e05254c72100a3f9" providerId="LiveId" clId="{991C9960-FF60-4457-B952-92510028CE06}" dt="2026-06-10T22:19:31.831" v="504" actId="14100"/>
        <pc:sldMkLst>
          <pc:docMk/>
          <pc:sldMk cId="0" sldId="264"/>
        </pc:sldMkLst>
        <pc:spChg chg="mod">
          <ac:chgData name="Toufic Jandah" userId="e05254c72100a3f9" providerId="LiveId" clId="{991C9960-FF60-4457-B952-92510028CE06}" dt="2026-06-10T22:19:31.831" v="504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Toufic Jandah" userId="e05254c72100a3f9" providerId="LiveId" clId="{991C9960-FF60-4457-B952-92510028CE06}" dt="2026-05-12T08:21:06.817" v="19"/>
          <ac:spMkLst>
            <pc:docMk/>
            <pc:sldMk cId="0" sldId="264"/>
            <ac:spMk id="12" creationId="{00000000-0000-0000-0000-000000000000}"/>
          </ac:spMkLst>
        </pc:spChg>
      </pc:sldChg>
      <pc:sldChg chg="modSp">
        <pc:chgData name="Toufic Jandah" userId="e05254c72100a3f9" providerId="LiveId" clId="{991C9960-FF60-4457-B952-92510028CE06}" dt="2026-05-12T08:21:09.533" v="20"/>
        <pc:sldMkLst>
          <pc:docMk/>
          <pc:sldMk cId="0" sldId="265"/>
        </pc:sldMkLst>
        <pc:spChg chg="mod">
          <ac:chgData name="Toufic Jandah" userId="e05254c72100a3f9" providerId="LiveId" clId="{991C9960-FF60-4457-B952-92510028CE06}" dt="2026-05-12T08:21:09.533" v="20"/>
          <ac:spMkLst>
            <pc:docMk/>
            <pc:sldMk cId="0" sldId="265"/>
            <ac:spMk id="7" creationId="{00000000-0000-0000-0000-000000000000}"/>
          </ac:spMkLst>
        </pc:spChg>
      </pc:sldChg>
      <pc:sldChg chg="modSp">
        <pc:chgData name="Toufic Jandah" userId="e05254c72100a3f9" providerId="LiveId" clId="{991C9960-FF60-4457-B952-92510028CE06}" dt="2026-05-12T08:21:12.686" v="21"/>
        <pc:sldMkLst>
          <pc:docMk/>
          <pc:sldMk cId="0" sldId="266"/>
        </pc:sldMkLst>
        <pc:spChg chg="mod">
          <ac:chgData name="Toufic Jandah" userId="e05254c72100a3f9" providerId="LiveId" clId="{991C9960-FF60-4457-B952-92510028CE06}" dt="2026-05-12T08:21:12.686" v="21"/>
          <ac:spMkLst>
            <pc:docMk/>
            <pc:sldMk cId="0" sldId="266"/>
            <ac:spMk id="7" creationId="{00000000-0000-0000-0000-000000000000}"/>
          </ac:spMkLst>
        </pc:spChg>
      </pc:sldChg>
      <pc:sldChg chg="modSp">
        <pc:chgData name="Toufic Jandah" userId="e05254c72100a3f9" providerId="LiveId" clId="{991C9960-FF60-4457-B952-92510028CE06}" dt="2026-05-12T08:21:15.529" v="22"/>
        <pc:sldMkLst>
          <pc:docMk/>
          <pc:sldMk cId="0" sldId="267"/>
        </pc:sldMkLst>
        <pc:spChg chg="mod">
          <ac:chgData name="Toufic Jandah" userId="e05254c72100a3f9" providerId="LiveId" clId="{991C9960-FF60-4457-B952-92510028CE06}" dt="2026-05-12T08:21:15.529" v="22"/>
          <ac:spMkLst>
            <pc:docMk/>
            <pc:sldMk cId="0" sldId="267"/>
            <ac:spMk id="7" creationId="{00000000-0000-0000-0000-000000000000}"/>
          </ac:spMkLst>
        </pc:spChg>
      </pc:sldChg>
      <pc:sldChg chg="modSp mod">
        <pc:chgData name="Toufic Jandah" userId="e05254c72100a3f9" providerId="LiveId" clId="{991C9960-FF60-4457-B952-92510028CE06}" dt="2026-05-12T08:21:25.571" v="25" actId="1076"/>
        <pc:sldMkLst>
          <pc:docMk/>
          <pc:sldMk cId="0" sldId="269"/>
        </pc:sldMkLst>
        <pc:spChg chg="mod">
          <ac:chgData name="Toufic Jandah" userId="e05254c72100a3f9" providerId="LiveId" clId="{991C9960-FF60-4457-B952-92510028CE06}" dt="2026-05-12T08:21:21.886" v="24"/>
          <ac:spMkLst>
            <pc:docMk/>
            <pc:sldMk cId="0" sldId="269"/>
            <ac:spMk id="6" creationId="{00000000-0000-0000-0000-000000000000}"/>
          </ac:spMkLst>
        </pc:spChg>
        <pc:spChg chg="mod">
          <ac:chgData name="Toufic Jandah" userId="e05254c72100a3f9" providerId="LiveId" clId="{991C9960-FF60-4457-B952-92510028CE06}" dt="2026-05-12T08:21:25.571" v="25" actId="1076"/>
          <ac:spMkLst>
            <pc:docMk/>
            <pc:sldMk cId="0" sldId="269"/>
            <ac:spMk id="9" creationId="{B9EA51C7-CFB1-DE79-4055-845C8F53BE27}"/>
          </ac:spMkLst>
        </pc:spChg>
      </pc:sldChg>
      <pc:sldChg chg="modSp mod">
        <pc:chgData name="Toufic Jandah" userId="e05254c72100a3f9" providerId="LiveId" clId="{991C9960-FF60-4457-B952-92510028CE06}" dt="2026-05-14T10:55:09.912" v="455" actId="21"/>
        <pc:sldMkLst>
          <pc:docMk/>
          <pc:sldMk cId="0" sldId="271"/>
        </pc:sldMkLst>
        <pc:spChg chg="mod">
          <ac:chgData name="Toufic Jandah" userId="e05254c72100a3f9" providerId="LiveId" clId="{991C9960-FF60-4457-B952-92510028CE06}" dt="2026-05-12T08:21:32.129" v="2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Toufic Jandah" userId="e05254c72100a3f9" providerId="LiveId" clId="{991C9960-FF60-4457-B952-92510028CE06}" dt="2026-05-14T10:55:09.912" v="455" actId="21"/>
          <ac:spMkLst>
            <pc:docMk/>
            <pc:sldMk cId="0" sldId="271"/>
            <ac:spMk id="22" creationId="{4A5B0540-A0DC-4368-241F-4E0173758261}"/>
          </ac:spMkLst>
        </pc:spChg>
      </pc:sldChg>
      <pc:sldChg chg="addSp modSp mod">
        <pc:chgData name="Toufic Jandah" userId="e05254c72100a3f9" providerId="LiveId" clId="{991C9960-FF60-4457-B952-92510028CE06}" dt="2026-06-11T09:57:23.618" v="566" actId="20577"/>
        <pc:sldMkLst>
          <pc:docMk/>
          <pc:sldMk cId="0" sldId="272"/>
        </pc:sldMkLst>
        <pc:spChg chg="mod">
          <ac:chgData name="Toufic Jandah" userId="e05254c72100a3f9" providerId="LiveId" clId="{991C9960-FF60-4457-B952-92510028CE06}" dt="2026-05-12T08:21:38.617" v="29"/>
          <ac:spMkLst>
            <pc:docMk/>
            <pc:sldMk cId="0" sldId="272"/>
            <ac:spMk id="6" creationId="{00000000-0000-0000-0000-000000000000}"/>
          </ac:spMkLst>
        </pc:spChg>
        <pc:spChg chg="add mod">
          <ac:chgData name="Toufic Jandah" userId="e05254c72100a3f9" providerId="LiveId" clId="{991C9960-FF60-4457-B952-92510028CE06}" dt="2026-06-11T09:57:23.618" v="566" actId="20577"/>
          <ac:spMkLst>
            <pc:docMk/>
            <pc:sldMk cId="0" sldId="272"/>
            <ac:spMk id="9" creationId="{A53AAB2F-49F5-52F1-59FA-D9E1970CD3E7}"/>
          </ac:spMkLst>
        </pc:spChg>
      </pc:sldChg>
      <pc:sldChg chg="modSp mod">
        <pc:chgData name="Toufic Jandah" userId="e05254c72100a3f9" providerId="LiveId" clId="{991C9960-FF60-4457-B952-92510028CE06}" dt="2026-05-12T12:01:57.313" v="62" actId="20577"/>
        <pc:sldMkLst>
          <pc:docMk/>
          <pc:sldMk cId="0" sldId="273"/>
        </pc:sldMkLst>
        <pc:spChg chg="mod">
          <ac:chgData name="Toufic Jandah" userId="e05254c72100a3f9" providerId="LiveId" clId="{991C9960-FF60-4457-B952-92510028CE06}" dt="2026-05-12T12:01:57.313" v="62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Toufic Jandah" userId="e05254c72100a3f9" providerId="LiveId" clId="{991C9960-FF60-4457-B952-92510028CE06}" dt="2026-05-12T08:21:35.597" v="28"/>
          <ac:spMkLst>
            <pc:docMk/>
            <pc:sldMk cId="0" sldId="273"/>
            <ac:spMk id="8" creationId="{00000000-0000-0000-0000-000000000000}"/>
          </ac:spMkLst>
        </pc:spChg>
      </pc:sldChg>
      <pc:sldChg chg="addSp delSp modSp mod">
        <pc:chgData name="Toufic Jandah" userId="e05254c72100a3f9" providerId="LiveId" clId="{991C9960-FF60-4457-B952-92510028CE06}" dt="2026-06-11T09:57:46.713" v="571" actId="1076"/>
        <pc:sldMkLst>
          <pc:docMk/>
          <pc:sldMk cId="0" sldId="274"/>
        </pc:sldMkLst>
        <pc:spChg chg="mod">
          <ac:chgData name="Toufic Jandah" userId="e05254c72100a3f9" providerId="LiveId" clId="{991C9960-FF60-4457-B952-92510028CE06}" dt="2026-05-12T08:21:46.566" v="31"/>
          <ac:spMkLst>
            <pc:docMk/>
            <pc:sldMk cId="0" sldId="274"/>
            <ac:spMk id="6" creationId="{00000000-0000-0000-0000-000000000000}"/>
          </ac:spMkLst>
        </pc:spChg>
        <pc:spChg chg="mod">
          <ac:chgData name="Toufic Jandah" userId="e05254c72100a3f9" providerId="LiveId" clId="{991C9960-FF60-4457-B952-92510028CE06}" dt="2026-06-11T09:56:43.331" v="535" actId="20577"/>
          <ac:spMkLst>
            <pc:docMk/>
            <pc:sldMk cId="0" sldId="274"/>
            <ac:spMk id="10" creationId="{00000000-0000-0000-0000-000000000000}"/>
          </ac:spMkLst>
        </pc:spChg>
        <pc:spChg chg="add del mod">
          <ac:chgData name="Toufic Jandah" userId="e05254c72100a3f9" providerId="LiveId" clId="{991C9960-FF60-4457-B952-92510028CE06}" dt="2026-06-11T09:57:01.647" v="550" actId="478"/>
          <ac:spMkLst>
            <pc:docMk/>
            <pc:sldMk cId="0" sldId="274"/>
            <ac:spMk id="12" creationId="{B6795767-D6FD-B5F3-4A74-7BC5889E1E3D}"/>
          </ac:spMkLst>
        </pc:spChg>
        <pc:spChg chg="add mod">
          <ac:chgData name="Toufic Jandah" userId="e05254c72100a3f9" providerId="LiveId" clId="{991C9960-FF60-4457-B952-92510028CE06}" dt="2026-06-11T09:57:46.713" v="571" actId="1076"/>
          <ac:spMkLst>
            <pc:docMk/>
            <pc:sldMk cId="0" sldId="274"/>
            <ac:spMk id="14" creationId="{AA8AFD39-821B-C208-6CC9-58DD9E14D06E}"/>
          </ac:spMkLst>
        </pc:spChg>
      </pc:sldChg>
      <pc:sldChg chg="modSp mod">
        <pc:chgData name="Toufic Jandah" userId="e05254c72100a3f9" providerId="LiveId" clId="{991C9960-FF60-4457-B952-92510028CE06}" dt="2026-05-14T10:09:02.732" v="85" actId="20577"/>
        <pc:sldMkLst>
          <pc:docMk/>
          <pc:sldMk cId="209151513" sldId="275"/>
        </pc:sldMkLst>
        <pc:spChg chg="mod">
          <ac:chgData name="Toufic Jandah" userId="e05254c72100a3f9" providerId="LiveId" clId="{991C9960-FF60-4457-B952-92510028CE06}" dt="2026-05-14T10:09:02.732" v="85" actId="20577"/>
          <ac:spMkLst>
            <pc:docMk/>
            <pc:sldMk cId="209151513" sldId="275"/>
            <ac:spMk id="3" creationId="{C1072949-9026-951D-6293-E16E2C4D3058}"/>
          </ac:spMkLst>
        </pc:spChg>
        <pc:spChg chg="mod">
          <ac:chgData name="Toufic Jandah" userId="e05254c72100a3f9" providerId="LiveId" clId="{991C9960-FF60-4457-B952-92510028CE06}" dt="2026-05-12T08:20:09.305" v="4"/>
          <ac:spMkLst>
            <pc:docMk/>
            <pc:sldMk cId="209151513" sldId="275"/>
            <ac:spMk id="11" creationId="{A0655AC7-704C-82C8-D6E8-DFEF0575A747}"/>
          </ac:spMkLst>
        </pc:spChg>
      </pc:sldChg>
      <pc:sldChg chg="modSp mod">
        <pc:chgData name="Toufic Jandah" userId="e05254c72100a3f9" providerId="LiveId" clId="{991C9960-FF60-4457-B952-92510028CE06}" dt="2026-06-10T22:18:12.137" v="492" actId="6549"/>
        <pc:sldMkLst>
          <pc:docMk/>
          <pc:sldMk cId="2534240975" sldId="276"/>
        </pc:sldMkLst>
        <pc:spChg chg="mod">
          <ac:chgData name="Toufic Jandah" userId="e05254c72100a3f9" providerId="LiveId" clId="{991C9960-FF60-4457-B952-92510028CE06}" dt="2026-05-12T08:20:33.963" v="9" actId="1076"/>
          <ac:spMkLst>
            <pc:docMk/>
            <pc:sldMk cId="2534240975" sldId="276"/>
            <ac:spMk id="3" creationId="{6F016C44-3185-85A8-3EEE-90B3FD60276C}"/>
          </ac:spMkLst>
        </pc:spChg>
        <pc:spChg chg="mod">
          <ac:chgData name="Toufic Jandah" userId="e05254c72100a3f9" providerId="LiveId" clId="{991C9960-FF60-4457-B952-92510028CE06}" dt="2026-06-10T22:18:12.137" v="492" actId="6549"/>
          <ac:spMkLst>
            <pc:docMk/>
            <pc:sldMk cId="2534240975" sldId="276"/>
            <ac:spMk id="5" creationId="{C9CBBD80-5423-FD66-37D1-BE09B76725C8}"/>
          </ac:spMkLst>
        </pc:spChg>
        <pc:spChg chg="mod">
          <ac:chgData name="Toufic Jandah" userId="e05254c72100a3f9" providerId="LiveId" clId="{991C9960-FF60-4457-B952-92510028CE06}" dt="2026-05-12T08:20:29.022" v="8"/>
          <ac:spMkLst>
            <pc:docMk/>
            <pc:sldMk cId="2534240975" sldId="276"/>
            <ac:spMk id="6" creationId="{FE37A4B2-0CAB-26E8-C12C-D032832B2BF9}"/>
          </ac:spMkLst>
        </pc:spChg>
      </pc:sldChg>
      <pc:sldChg chg="modSp mod">
        <pc:chgData name="Toufic Jandah" userId="e05254c72100a3f9" providerId="LiveId" clId="{991C9960-FF60-4457-B952-92510028CE06}" dt="2026-06-10T22:18:26.845" v="496" actId="20577"/>
        <pc:sldMkLst>
          <pc:docMk/>
          <pc:sldMk cId="3852213386" sldId="277"/>
        </pc:sldMkLst>
        <pc:spChg chg="mod">
          <ac:chgData name="Toufic Jandah" userId="e05254c72100a3f9" providerId="LiveId" clId="{991C9960-FF60-4457-B952-92510028CE06}" dt="2026-05-12T08:58:33.732" v="36" actId="1076"/>
          <ac:spMkLst>
            <pc:docMk/>
            <pc:sldMk cId="3852213386" sldId="277"/>
            <ac:spMk id="3" creationId="{79E7576A-CC63-F683-5B88-54269725BADE}"/>
          </ac:spMkLst>
        </pc:spChg>
        <pc:spChg chg="mod">
          <ac:chgData name="Toufic Jandah" userId="e05254c72100a3f9" providerId="LiveId" clId="{991C9960-FF60-4457-B952-92510028CE06}" dt="2026-06-10T22:18:26.845" v="496" actId="20577"/>
          <ac:spMkLst>
            <pc:docMk/>
            <pc:sldMk cId="3852213386" sldId="277"/>
            <ac:spMk id="5" creationId="{BB547D33-E77E-2328-5032-3AF79EE88E70}"/>
          </ac:spMkLst>
        </pc:spChg>
        <pc:spChg chg="mod">
          <ac:chgData name="Toufic Jandah" userId="e05254c72100a3f9" providerId="LiveId" clId="{991C9960-FF60-4457-B952-92510028CE06}" dt="2026-05-12T08:20:41.137" v="11"/>
          <ac:spMkLst>
            <pc:docMk/>
            <pc:sldMk cId="3852213386" sldId="277"/>
            <ac:spMk id="6" creationId="{CD5A3FF6-09EB-6BB5-B1AC-9C1EE63E7771}"/>
          </ac:spMkLst>
        </pc:spChg>
      </pc:sldChg>
      <pc:sldChg chg="modSp">
        <pc:chgData name="Toufic Jandah" userId="e05254c72100a3f9" providerId="LiveId" clId="{991C9960-FF60-4457-B952-92510028CE06}" dt="2026-05-12T08:21:28.719" v="26"/>
        <pc:sldMkLst>
          <pc:docMk/>
          <pc:sldMk cId="3702965284" sldId="278"/>
        </pc:sldMkLst>
        <pc:spChg chg="mod">
          <ac:chgData name="Toufic Jandah" userId="e05254c72100a3f9" providerId="LiveId" clId="{991C9960-FF60-4457-B952-92510028CE06}" dt="2026-05-12T08:21:28.719" v="26"/>
          <ac:spMkLst>
            <pc:docMk/>
            <pc:sldMk cId="3702965284" sldId="278"/>
            <ac:spMk id="6" creationId="{4ED73755-6097-4057-D29F-34499F5C9224}"/>
          </ac:spMkLst>
        </pc:spChg>
      </pc:sldChg>
      <pc:sldChg chg="addSp delSp modSp add mod">
        <pc:chgData name="Toufic Jandah" userId="e05254c72100a3f9" providerId="LiveId" clId="{991C9960-FF60-4457-B952-92510028CE06}" dt="2026-06-10T22:18:38.854" v="497" actId="14100"/>
        <pc:sldMkLst>
          <pc:docMk/>
          <pc:sldMk cId="1714968943" sldId="279"/>
        </pc:sldMkLst>
        <pc:spChg chg="mod">
          <ac:chgData name="Toufic Jandah" userId="e05254c72100a3f9" providerId="LiveId" clId="{991C9960-FF60-4457-B952-92510028CE06}" dt="2026-05-14T10:15:27.180" v="97" actId="20577"/>
          <ac:spMkLst>
            <pc:docMk/>
            <pc:sldMk cId="1714968943" sldId="279"/>
            <ac:spMk id="2" creationId="{A485C571-19E3-9B44-2FE6-08F07E990326}"/>
          </ac:spMkLst>
        </pc:spChg>
        <pc:spChg chg="mod">
          <ac:chgData name="Toufic Jandah" userId="e05254c72100a3f9" providerId="LiveId" clId="{991C9960-FF60-4457-B952-92510028CE06}" dt="2026-06-10T22:18:38.854" v="497" actId="14100"/>
          <ac:spMkLst>
            <pc:docMk/>
            <pc:sldMk cId="1714968943" sldId="279"/>
            <ac:spMk id="10" creationId="{091A5AF1-FF8B-2666-F500-DE4B822A0220}"/>
          </ac:spMkLst>
        </pc:spChg>
        <pc:picChg chg="add mod">
          <ac:chgData name="Toufic Jandah" userId="e05254c72100a3f9" providerId="LiveId" clId="{991C9960-FF60-4457-B952-92510028CE06}" dt="2026-05-14T10:36:01.999" v="384" actId="1076"/>
          <ac:picMkLst>
            <pc:docMk/>
            <pc:sldMk cId="1714968943" sldId="279"/>
            <ac:picMk id="16" creationId="{554C0493-00D0-73E7-60B1-620AE20FD6D2}"/>
          </ac:picMkLst>
        </pc:picChg>
      </pc:sldChg>
      <pc:sldChg chg="addSp delSp modSp add mod">
        <pc:chgData name="Toufic Jandah" userId="e05254c72100a3f9" providerId="LiveId" clId="{991C9960-FF60-4457-B952-92510028CE06}" dt="2026-06-10T22:19:12.834" v="502" actId="14100"/>
        <pc:sldMkLst>
          <pc:docMk/>
          <pc:sldMk cId="2058806017" sldId="280"/>
        </pc:sldMkLst>
        <pc:spChg chg="add mod">
          <ac:chgData name="Toufic Jandah" userId="e05254c72100a3f9" providerId="LiveId" clId="{991C9960-FF60-4457-B952-92510028CE06}" dt="2026-05-14T10:24:19.661" v="358" actId="113"/>
          <ac:spMkLst>
            <pc:docMk/>
            <pc:sldMk cId="2058806017" sldId="280"/>
            <ac:spMk id="2" creationId="{59ED1226-C726-AA1D-BD64-AE8E45EFB4EF}"/>
          </ac:spMkLst>
        </pc:spChg>
        <pc:spChg chg="mod">
          <ac:chgData name="Toufic Jandah" userId="e05254c72100a3f9" providerId="LiveId" clId="{991C9960-FF60-4457-B952-92510028CE06}" dt="2026-05-14T10:19:04.363" v="115"/>
          <ac:spMkLst>
            <pc:docMk/>
            <pc:sldMk cId="2058806017" sldId="280"/>
            <ac:spMk id="3" creationId="{5759598F-FA3B-63DD-0D0D-9A70EF0F3DA5}"/>
          </ac:spMkLst>
        </pc:spChg>
        <pc:spChg chg="mod">
          <ac:chgData name="Toufic Jandah" userId="e05254c72100a3f9" providerId="LiveId" clId="{991C9960-FF60-4457-B952-92510028CE06}" dt="2026-06-10T22:19:12.834" v="502" actId="14100"/>
          <ac:spMkLst>
            <pc:docMk/>
            <pc:sldMk cId="2058806017" sldId="280"/>
            <ac:spMk id="7" creationId="{1F6531E3-984A-D7B6-84CF-6D055FDD66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FFD42-0C11-4E4B-A704-225A57F0D97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D88BE-96D9-4CB6-8F6D-96A92E462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97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88BE-96D9-4CB6-8F6D-96A92E46246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73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251BA-081C-09FE-6FAA-904F6CF2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3B436-DC99-2B7F-7CC7-DD5E50553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1CE4E-1AA1-4B6C-12A5-C10DC05DC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2CB53-8B49-3AC3-ED32-13819F72A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D88BE-96D9-4CB6-8F6D-96A92E46246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77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2692" y="9271"/>
            <a:ext cx="3811270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10" dirty="0"/>
              <a:t>15-Apr-</a:t>
            </a:r>
            <a:r>
              <a:rPr spc="-25" dirty="0"/>
              <a:t>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20" dirty="0"/>
              <a:t>RaTSiF,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10" dirty="0"/>
              <a:t>15-Apr-</a:t>
            </a:r>
            <a:r>
              <a:rPr spc="-25" dirty="0"/>
              <a:t>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20" dirty="0"/>
              <a:t>RaTSiF,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10" dirty="0"/>
              <a:t>15-Apr-</a:t>
            </a:r>
            <a:r>
              <a:rPr spc="-25" dirty="0"/>
              <a:t>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20" dirty="0"/>
              <a:t>RaTSiF,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10" dirty="0"/>
              <a:t>15-Apr-</a:t>
            </a:r>
            <a:r>
              <a:rPr spc="-25" dirty="0"/>
              <a:t>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20" dirty="0"/>
              <a:t>RaTSiF,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10" dirty="0"/>
              <a:t>15-Apr-</a:t>
            </a:r>
            <a:r>
              <a:rPr spc="-25" dirty="0"/>
              <a:t>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20" dirty="0"/>
              <a:t>RaTSiF,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68443" y="6601967"/>
            <a:ext cx="4575810" cy="256540"/>
          </a:xfrm>
          <a:custGeom>
            <a:avLst/>
            <a:gdLst/>
            <a:ahLst/>
            <a:cxnLst/>
            <a:rect l="l" t="t" r="r" b="b"/>
            <a:pathLst>
              <a:path w="4575809" h="256540">
                <a:moveTo>
                  <a:pt x="4575556" y="0"/>
                </a:moveTo>
                <a:lnTo>
                  <a:pt x="0" y="0"/>
                </a:lnTo>
                <a:lnTo>
                  <a:pt x="0" y="256032"/>
                </a:lnTo>
                <a:lnTo>
                  <a:pt x="4575555" y="256032"/>
                </a:lnTo>
                <a:lnTo>
                  <a:pt x="4575556" y="0"/>
                </a:lnTo>
                <a:close/>
              </a:path>
            </a:pathLst>
          </a:custGeom>
          <a:solidFill>
            <a:srgbClr val="258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601967"/>
            <a:ext cx="4568825" cy="256540"/>
          </a:xfrm>
          <a:custGeom>
            <a:avLst/>
            <a:gdLst/>
            <a:ahLst/>
            <a:cxnLst/>
            <a:rect l="l" t="t" r="r" b="b"/>
            <a:pathLst>
              <a:path w="4568825" h="256540">
                <a:moveTo>
                  <a:pt x="4568444" y="0"/>
                </a:moveTo>
                <a:lnTo>
                  <a:pt x="0" y="0"/>
                </a:lnTo>
                <a:lnTo>
                  <a:pt x="0" y="256032"/>
                </a:lnTo>
                <a:lnTo>
                  <a:pt x="4568444" y="256032"/>
                </a:lnTo>
                <a:lnTo>
                  <a:pt x="4568444" y="0"/>
                </a:lnTo>
                <a:close/>
              </a:path>
            </a:pathLst>
          </a:custGeom>
          <a:solidFill>
            <a:srgbClr val="2046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4572000" cy="256540"/>
          </a:xfrm>
          <a:custGeom>
            <a:avLst/>
            <a:gdLst/>
            <a:ahLst/>
            <a:cxnLst/>
            <a:rect l="l" t="t" r="r" b="b"/>
            <a:pathLst>
              <a:path w="4572000" h="256540">
                <a:moveTo>
                  <a:pt x="4572000" y="0"/>
                </a:moveTo>
                <a:lnTo>
                  <a:pt x="0" y="0"/>
                </a:lnTo>
                <a:lnTo>
                  <a:pt x="0" y="256031"/>
                </a:lnTo>
                <a:lnTo>
                  <a:pt x="4572000" y="256031"/>
                </a:lnTo>
                <a:lnTo>
                  <a:pt x="4572000" y="0"/>
                </a:lnTo>
                <a:close/>
              </a:path>
            </a:pathLst>
          </a:custGeom>
          <a:solidFill>
            <a:srgbClr val="2046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72000" y="0"/>
            <a:ext cx="4572000" cy="256540"/>
          </a:xfrm>
          <a:custGeom>
            <a:avLst/>
            <a:gdLst/>
            <a:ahLst/>
            <a:cxnLst/>
            <a:rect l="l" t="t" r="r" b="b"/>
            <a:pathLst>
              <a:path w="4572000" h="256540">
                <a:moveTo>
                  <a:pt x="4572000" y="0"/>
                </a:moveTo>
                <a:lnTo>
                  <a:pt x="0" y="0"/>
                </a:lnTo>
                <a:lnTo>
                  <a:pt x="0" y="256031"/>
                </a:lnTo>
                <a:lnTo>
                  <a:pt x="4572000" y="256031"/>
                </a:lnTo>
                <a:lnTo>
                  <a:pt x="4572000" y="0"/>
                </a:lnTo>
                <a:close/>
              </a:path>
            </a:pathLst>
          </a:custGeom>
          <a:solidFill>
            <a:srgbClr val="258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36346"/>
            <a:ext cx="898652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0984" y="1227836"/>
            <a:ext cx="8477885" cy="4786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9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10" dirty="0"/>
              <a:t>15-Apr-</a:t>
            </a:r>
            <a:r>
              <a:rPr spc="-25" dirty="0"/>
              <a:t>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9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30"/>
              </a:lnSpc>
            </a:pPr>
            <a:r>
              <a:rPr spc="-20" dirty="0"/>
              <a:t>RaTSiF,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56015" y="6610222"/>
            <a:ext cx="347980" cy="280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JKING10/theis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Toufic-Jandah@hotmail.com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TAJKING10/theiss" TargetMode="External"/><Relationship Id="rId4" Type="http://schemas.openxmlformats.org/officeDocument/2006/relationships/hyperlink" Target="https://youtu.be/CO4d5y-fKm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05905"/>
            <a:ext cx="9144000" cy="253365"/>
            <a:chOff x="0" y="6605905"/>
            <a:chExt cx="9144000" cy="253365"/>
          </a:xfrm>
        </p:grpSpPr>
        <p:sp>
          <p:nvSpPr>
            <p:cNvPr id="3" name="object 3"/>
            <p:cNvSpPr/>
            <p:nvPr/>
          </p:nvSpPr>
          <p:spPr>
            <a:xfrm>
              <a:off x="4568443" y="6606661"/>
              <a:ext cx="4575810" cy="252095"/>
            </a:xfrm>
            <a:custGeom>
              <a:avLst/>
              <a:gdLst/>
              <a:ahLst/>
              <a:cxnLst/>
              <a:rect l="l" t="t" r="r" b="b"/>
              <a:pathLst>
                <a:path w="4575809" h="252095">
                  <a:moveTo>
                    <a:pt x="4575556" y="0"/>
                  </a:moveTo>
                  <a:lnTo>
                    <a:pt x="0" y="0"/>
                  </a:lnTo>
                  <a:lnTo>
                    <a:pt x="0" y="252094"/>
                  </a:lnTo>
                  <a:lnTo>
                    <a:pt x="4575556" y="252094"/>
                  </a:lnTo>
                  <a:lnTo>
                    <a:pt x="4575556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605905"/>
              <a:ext cx="4568825" cy="252095"/>
            </a:xfrm>
            <a:custGeom>
              <a:avLst/>
              <a:gdLst/>
              <a:ahLst/>
              <a:cxnLst/>
              <a:rect l="l" t="t" r="r" b="b"/>
              <a:pathLst>
                <a:path w="4568825" h="252095">
                  <a:moveTo>
                    <a:pt x="4568444" y="0"/>
                  </a:moveTo>
                  <a:lnTo>
                    <a:pt x="0" y="0"/>
                  </a:lnTo>
                  <a:lnTo>
                    <a:pt x="0" y="252095"/>
                  </a:lnTo>
                  <a:lnTo>
                    <a:pt x="4568444" y="252095"/>
                  </a:lnTo>
                  <a:lnTo>
                    <a:pt x="4568444" y="0"/>
                  </a:lnTo>
                  <a:close/>
                </a:path>
              </a:pathLst>
            </a:custGeom>
            <a:solidFill>
              <a:srgbClr val="2046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836665" y="6599631"/>
            <a:ext cx="32277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 –</a:t>
            </a:r>
            <a:r>
              <a:rPr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Future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9542" y="6583781"/>
            <a:ext cx="7791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Riga,</a:t>
            </a:r>
            <a:r>
              <a:rPr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Latvia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5738" y="4343400"/>
            <a:ext cx="7407275" cy="0"/>
          </a:xfrm>
          <a:custGeom>
            <a:avLst/>
            <a:gdLst/>
            <a:ahLst/>
            <a:cxnLst/>
            <a:rect l="l" t="t" r="r" b="b"/>
            <a:pathLst>
              <a:path w="7407275">
                <a:moveTo>
                  <a:pt x="0" y="0"/>
                </a:moveTo>
                <a:lnTo>
                  <a:pt x="7406665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98652" y="595149"/>
            <a:ext cx="6810375" cy="3817071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0" indent="0" algn="ctr">
              <a:buNone/>
            </a:pPr>
            <a:r>
              <a:rPr lang="en-US" sz="4000" dirty="0"/>
              <a:t>Multimodal AI Framework for Interview Candidate Assessment Using Random Forest Emotion Classification and LLM-Based Competency Evaluation</a:t>
            </a:r>
            <a:endParaRPr lang="en-US" sz="4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2117" y="4266793"/>
            <a:ext cx="6819900" cy="4423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71955">
              <a:lnSpc>
                <a:spcPct val="157100"/>
              </a:lnSpc>
              <a:spcBef>
                <a:spcPts val="95"/>
              </a:spcBef>
            </a:pPr>
            <a:r>
              <a:rPr sz="2000" spc="155" dirty="0">
                <a:solidFill>
                  <a:schemeClr val="tx1"/>
                </a:solidFill>
                <a:latin typeface="Calibri Light"/>
                <a:cs typeface="Calibri Light"/>
              </a:rPr>
              <a:t>Student:</a:t>
            </a:r>
            <a:r>
              <a:rPr sz="2000" spc="365" dirty="0">
                <a:solidFill>
                  <a:schemeClr val="tx1"/>
                </a:solidFill>
                <a:latin typeface="Calibri Light"/>
                <a:cs typeface="Calibri Light"/>
              </a:rPr>
              <a:t> </a:t>
            </a:r>
            <a:r>
              <a:rPr lang="en-US" sz="2000" spc="125" dirty="0">
                <a:solidFill>
                  <a:schemeClr val="tx1"/>
                </a:solidFill>
                <a:latin typeface="Calibri Light"/>
                <a:cs typeface="Calibri Light"/>
              </a:rPr>
              <a:t>Toufic Jandah</a:t>
            </a:r>
            <a:endParaRPr sz="2000" dirty="0">
              <a:solidFill>
                <a:schemeClr val="tx1"/>
              </a:solidFill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301" y="6605422"/>
            <a:ext cx="70104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spc="-10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-Apr-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61C0A045-54CF-A48C-17F8-161F175C1F68}"/>
              </a:ext>
            </a:extLst>
          </p:cNvPr>
          <p:cNvSpPr txBox="1"/>
          <p:nvPr/>
        </p:nvSpPr>
        <p:spPr>
          <a:xfrm>
            <a:off x="1452117" y="4731218"/>
            <a:ext cx="6819900" cy="3974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71955">
              <a:lnSpc>
                <a:spcPct val="157100"/>
              </a:lnSpc>
              <a:spcBef>
                <a:spcPts val="95"/>
              </a:spcBef>
            </a:pPr>
            <a:r>
              <a:rPr lang="en-US" sz="1800" dirty="0"/>
              <a:t>Supervisor: Professor, Adham Ahmed Awad </a:t>
            </a:r>
            <a:endParaRPr sz="2000" dirty="0">
              <a:latin typeface="Calibri Light"/>
              <a:cs typeface="Calibri Light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889406EF-25C8-4992-6B53-D131092AF275}"/>
              </a:ext>
            </a:extLst>
          </p:cNvPr>
          <p:cNvSpPr txBox="1"/>
          <p:nvPr/>
        </p:nvSpPr>
        <p:spPr>
          <a:xfrm>
            <a:off x="2667000" y="5150823"/>
            <a:ext cx="6819900" cy="3974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71955">
              <a:lnSpc>
                <a:spcPct val="157100"/>
              </a:lnSpc>
              <a:spcBef>
                <a:spcPts val="95"/>
              </a:spcBef>
            </a:pPr>
            <a:r>
              <a:rPr lang="en-US" sz="1800" dirty="0"/>
              <a:t>Elsayed </a:t>
            </a:r>
            <a:r>
              <a:rPr lang="en-US" sz="1800" dirty="0" err="1"/>
              <a:t>Elmenshawy</a:t>
            </a:r>
            <a:endParaRPr sz="20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Problem and Motivation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209804" y="9271"/>
            <a:ext cx="8955585" cy="440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sz="1300" dirty="0">
                <a:solidFill>
                  <a:schemeClr val="bg1"/>
                </a:solidFill>
                <a:latin typeface="Calibri"/>
                <a:cs typeface="Calibri"/>
              </a:rPr>
              <a:t>What</a:t>
            </a:r>
            <a:r>
              <a:rPr sz="13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chemeClr val="bg1"/>
                </a:solidFill>
                <a:latin typeface="Calibri"/>
                <a:cs typeface="Calibri"/>
              </a:rPr>
              <a:t>is</a:t>
            </a:r>
            <a:r>
              <a:rPr sz="13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1300" spc="-25" dirty="0">
                <a:solidFill>
                  <a:schemeClr val="bg1"/>
                </a:solidFill>
                <a:latin typeface="Calibri"/>
                <a:cs typeface="Calibri"/>
              </a:rPr>
              <a:t>the problem and motivation</a:t>
            </a:r>
            <a:r>
              <a:rPr sz="1300" spc="-10" dirty="0">
                <a:solidFill>
                  <a:schemeClr val="bg1"/>
                </a:solidFill>
                <a:latin typeface="Calibri"/>
                <a:cs typeface="Calibri"/>
              </a:rPr>
              <a:t>?</a:t>
            </a:r>
            <a:r>
              <a:rPr lang="en-US" sz="1300" dirty="0">
                <a:solidFill>
                  <a:schemeClr val="bg1"/>
                </a:solidFill>
                <a:latin typeface="Calibri"/>
                <a:cs typeface="Calibri"/>
              </a:rPr>
              <a:t>	</a:t>
            </a:r>
            <a:endParaRPr lang="en-US" sz="1400" dirty="0">
              <a:solidFill>
                <a:schemeClr val="bg1"/>
              </a:solidFill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2436" y="1623457"/>
            <a:ext cx="8364752" cy="1436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Calibri"/>
                <a:cs typeface="Calibri"/>
              </a:rPr>
              <a:t>Recruitment interviews are often subjective and inconsistent.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Calibri"/>
                <a:cs typeface="Calibri"/>
              </a:rPr>
              <a:t>Text-only evaluation can miss important communication signals.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Calibri"/>
                <a:cs typeface="Calibri"/>
              </a:rPr>
              <a:t>Companies need a structured and explainable way to support interview decisions.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Calibri"/>
                <a:cs typeface="Calibri"/>
              </a:rPr>
              <a:t>This project proposes a multimodal AI system that combines transcript, speech, and body-language analysis for more transparent evaluation.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82974" y="663161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pic>
        <p:nvPicPr>
          <p:cNvPr id="12" name="Picture 11" descr="04_problem.png">
            <a:extLst>
              <a:ext uri="{FF2B5EF4-FFF2-40B4-BE49-F238E27FC236}">
                <a16:creationId xmlns:a16="http://schemas.microsoft.com/office/drawing/2014/main" id="{42A89E94-C591-96F9-CFFA-60C3F7FD4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" y="3962400"/>
            <a:ext cx="9146536" cy="2286634"/>
          </a:xfrm>
          <a:prstGeom prst="rect">
            <a:avLst/>
          </a:prstGeom>
        </p:spPr>
      </p:pic>
      <p:sp>
        <p:nvSpPr>
          <p:cNvPr id="13" name="object 11">
            <a:extLst>
              <a:ext uri="{FF2B5EF4-FFF2-40B4-BE49-F238E27FC236}">
                <a16:creationId xmlns:a16="http://schemas.microsoft.com/office/drawing/2014/main" id="{9B32C470-1AA9-9B8E-4978-B2346B954F5A}"/>
              </a:ext>
            </a:extLst>
          </p:cNvPr>
          <p:cNvSpPr txBox="1"/>
          <p:nvPr/>
        </p:nvSpPr>
        <p:spPr>
          <a:xfrm>
            <a:off x="4651795" y="9271"/>
            <a:ext cx="4666108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Multimodal AI-Based Recruitment Evaluation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3CED-126F-B802-A3E2-4A5F80E1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72949-9026-951D-6293-E16E2C4D3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056" y="1143000"/>
            <a:ext cx="8477885" cy="5183470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lang="en-US" sz="1800" dirty="0"/>
              <a:t>How can a human-in-the-loop trimodal AI framework support structured, explainable, and auditable interview candidate assessment?</a:t>
            </a: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</a:pPr>
            <a:r>
              <a:rPr lang="en-US" sz="2000" dirty="0"/>
              <a:t>Sub-questions</a:t>
            </a:r>
            <a:r>
              <a:rPr lang="en-US" sz="2000" b="1" spc="-10" dirty="0"/>
              <a:t>:</a:t>
            </a:r>
          </a:p>
          <a:p>
            <a:pPr marL="12700">
              <a:lnSpc>
                <a:spcPct val="100000"/>
              </a:lnSpc>
            </a:pPr>
            <a:endParaRPr lang="en-US" sz="2000" dirty="0"/>
          </a:p>
          <a:p>
            <a:pPr marL="469265" indent="-456565">
              <a:buClr>
                <a:srgbClr val="1CACE3"/>
              </a:buClr>
              <a:buFontTx/>
              <a:buAutoNum type="arabicPeriod"/>
              <a:tabLst>
                <a:tab pos="469265" algn="l"/>
              </a:tabLst>
            </a:pPr>
            <a:r>
              <a:rPr lang="en-US" sz="1800" dirty="0">
                <a:solidFill>
                  <a:srgbClr val="1E2936"/>
                </a:solidFill>
              </a:rPr>
              <a:t>Can a multimodal AI system assess candidate performance by analyzing verbal answers, body language, and speech emotion in real time?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lang="en-US" sz="2000" dirty="0"/>
          </a:p>
          <a:p>
            <a:pPr marL="469265" indent="-456565" rtl="0">
              <a:spcBef>
                <a:spcPts val="5"/>
              </a:spcBef>
              <a:buClr>
                <a:srgbClr val="1CACE3"/>
              </a:buClr>
              <a:buFontTx/>
              <a:buAutoNum type="arabicPeriod" startAt="2"/>
              <a:tabLst>
                <a:tab pos="469265" algn="l"/>
              </a:tabLst>
            </a:pPr>
            <a:r>
              <a:rPr lang="en-US" dirty="0"/>
              <a:t>How does combining NLP, computer vision, and audio ML compare with traditional single-modality interview assessment?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lang="en-US" sz="2000" dirty="0"/>
          </a:p>
          <a:p>
            <a:pPr marL="469265" indent="-456565" rtl="0">
              <a:buClr>
                <a:srgbClr val="1CACE3"/>
              </a:buClr>
              <a:buFontTx/>
              <a:buAutoNum type="arabicPeriod" startAt="3"/>
              <a:tabLst>
                <a:tab pos="469265" algn="l"/>
              </a:tabLst>
            </a:pPr>
            <a:r>
              <a:rPr lang="en-US" dirty="0"/>
              <a:t>What weighted scoring model can best approximate structured human interviewer judgment for confidence, communication, and competence?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350"/>
              </a:spcBef>
              <a:buClr>
                <a:srgbClr val="1CACE3"/>
              </a:buClr>
              <a:buFont typeface="Calibri"/>
              <a:buAutoNum type="arabicPeriod" startAt="3"/>
            </a:pPr>
            <a:endParaRPr lang="en-US" sz="2000" dirty="0"/>
          </a:p>
          <a:p>
            <a:pPr marL="469265" indent="-456565">
              <a:buClr>
                <a:srgbClr val="1CACE3"/>
              </a:buClr>
              <a:buFontTx/>
              <a:buAutoNum type="arabicPeriod" startAt="3"/>
              <a:tabLst>
                <a:tab pos="469265" algn="l"/>
              </a:tabLst>
            </a:pPr>
            <a:r>
              <a:rPr lang="en-US" sz="1800" dirty="0">
                <a:solidFill>
                  <a:srgbClr val="1E2936"/>
                </a:solidFill>
              </a:rPr>
              <a:t>How can explainability, audit logging, and human override reduce ethical and regulatory risks in AI-assisted recruitment?</a:t>
            </a:r>
            <a:r>
              <a:rPr lang="en-US" sz="1800" dirty="0"/>
              <a:t> 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335"/>
              </a:spcBef>
              <a:buClr>
                <a:srgbClr val="1CACE3"/>
              </a:buClr>
              <a:buFont typeface="Calibri"/>
              <a:buAutoNum type="arabicPeriod" startAt="3"/>
            </a:pPr>
            <a:endParaRPr lang="en-US" sz="2000" dirty="0"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08235059-CBBE-F5EF-2581-D1166A6946D5}"/>
              </a:ext>
            </a:extLst>
          </p:cNvPr>
          <p:cNvGrpSpPr/>
          <p:nvPr/>
        </p:nvGrpSpPr>
        <p:grpSpPr>
          <a:xfrm>
            <a:off x="0" y="0"/>
            <a:ext cx="9144000" cy="256540"/>
            <a:chOff x="0" y="0"/>
            <a:chExt cx="9144000" cy="256540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B9E08EF8-AF8F-89B0-094F-470D2CF9B1A2}"/>
                </a:ext>
              </a:extLst>
            </p:cNvPr>
            <p:cNvSpPr/>
            <p:nvPr/>
          </p:nvSpPr>
          <p:spPr>
            <a:xfrm>
              <a:off x="0" y="0"/>
              <a:ext cx="4572000" cy="256540"/>
            </a:xfrm>
            <a:custGeom>
              <a:avLst/>
              <a:gdLst/>
              <a:ahLst/>
              <a:cxnLst/>
              <a:rect l="l" t="t" r="r" b="b"/>
              <a:pathLst>
                <a:path w="4572000" h="256540">
                  <a:moveTo>
                    <a:pt x="4572000" y="0"/>
                  </a:moveTo>
                  <a:lnTo>
                    <a:pt x="0" y="0"/>
                  </a:lnTo>
                  <a:lnTo>
                    <a:pt x="0" y="256031"/>
                  </a:lnTo>
                  <a:lnTo>
                    <a:pt x="4572000" y="256031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2046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55E0099F-99DA-0E56-BB81-6F8D95F84F64}"/>
                </a:ext>
              </a:extLst>
            </p:cNvPr>
            <p:cNvSpPr/>
            <p:nvPr/>
          </p:nvSpPr>
          <p:spPr>
            <a:xfrm>
              <a:off x="4572000" y="0"/>
              <a:ext cx="4572000" cy="256540"/>
            </a:xfrm>
            <a:custGeom>
              <a:avLst/>
              <a:gdLst/>
              <a:ahLst/>
              <a:cxnLst/>
              <a:rect l="l" t="t" r="r" b="b"/>
              <a:pathLst>
                <a:path w="4572000" h="256540">
                  <a:moveTo>
                    <a:pt x="4572000" y="0"/>
                  </a:moveTo>
                  <a:lnTo>
                    <a:pt x="0" y="0"/>
                  </a:lnTo>
                  <a:lnTo>
                    <a:pt x="0" y="256031"/>
                  </a:lnTo>
                  <a:lnTo>
                    <a:pt x="4572000" y="256031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152BB364-A8B1-3B9E-3E08-1D878EC1DF86}"/>
              </a:ext>
            </a:extLst>
          </p:cNvPr>
          <p:cNvSpPr txBox="1"/>
          <p:nvPr/>
        </p:nvSpPr>
        <p:spPr>
          <a:xfrm>
            <a:off x="209804" y="9271"/>
            <a:ext cx="8955585" cy="440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lang="en-US" sz="1300" spc="-10" dirty="0">
                <a:solidFill>
                  <a:schemeClr val="bg1"/>
                </a:solidFill>
                <a:latin typeface="Calibri"/>
                <a:cs typeface="Calibri"/>
              </a:rPr>
              <a:t>Research Question</a:t>
            </a:r>
            <a:r>
              <a:rPr sz="1300" spc="-10" dirty="0">
                <a:solidFill>
                  <a:schemeClr val="bg1"/>
                </a:solidFill>
                <a:latin typeface="Calibri"/>
                <a:cs typeface="Calibri"/>
              </a:rPr>
              <a:t>?</a:t>
            </a:r>
            <a:r>
              <a:rPr lang="en-US" sz="1300" dirty="0">
                <a:solidFill>
                  <a:schemeClr val="bg1"/>
                </a:solidFill>
                <a:latin typeface="Calibri"/>
                <a:cs typeface="Calibri"/>
              </a:rPr>
              <a:t>	</a:t>
            </a:r>
            <a:endParaRPr lang="en-US" sz="1400" dirty="0">
              <a:solidFill>
                <a:schemeClr val="bg1"/>
              </a:solidFill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B7C4B152-E38D-4E5A-6045-6E17516542B7}"/>
              </a:ext>
            </a:extLst>
          </p:cNvPr>
          <p:cNvSpPr txBox="1"/>
          <p:nvPr/>
        </p:nvSpPr>
        <p:spPr>
          <a:xfrm>
            <a:off x="4651795" y="9271"/>
            <a:ext cx="4666108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Multimodal AI-Based Recruitment Evaluation System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4FF2D851-85E3-7340-171F-390CF0B28DC7}"/>
              </a:ext>
            </a:extLst>
          </p:cNvPr>
          <p:cNvSpPr txBox="1"/>
          <p:nvPr/>
        </p:nvSpPr>
        <p:spPr>
          <a:xfrm>
            <a:off x="3482974" y="663161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F0AEE60-3D7B-6E5D-E10E-19AF5CA97D8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0655AC7-704C-82C8-D6E8-DFEF0575A74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29F200A5-4AEA-AEF4-2C91-A590E38E442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756015" y="6610222"/>
            <a:ext cx="347980" cy="280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09151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01967"/>
            <a:ext cx="9144000" cy="256540"/>
            <a:chOff x="0" y="6601967"/>
            <a:chExt cx="9144000" cy="256540"/>
          </a:xfrm>
        </p:grpSpPr>
        <p:sp>
          <p:nvSpPr>
            <p:cNvPr id="3" name="object 3"/>
            <p:cNvSpPr/>
            <p:nvPr/>
          </p:nvSpPr>
          <p:spPr>
            <a:xfrm>
              <a:off x="4568443" y="6601967"/>
              <a:ext cx="4575810" cy="256540"/>
            </a:xfrm>
            <a:custGeom>
              <a:avLst/>
              <a:gdLst/>
              <a:ahLst/>
              <a:cxnLst/>
              <a:rect l="l" t="t" r="r" b="b"/>
              <a:pathLst>
                <a:path w="4575809" h="256540">
                  <a:moveTo>
                    <a:pt x="4575556" y="0"/>
                  </a:moveTo>
                  <a:lnTo>
                    <a:pt x="0" y="0"/>
                  </a:lnTo>
                  <a:lnTo>
                    <a:pt x="0" y="256032"/>
                  </a:lnTo>
                  <a:lnTo>
                    <a:pt x="4575555" y="256032"/>
                  </a:lnTo>
                  <a:lnTo>
                    <a:pt x="4575556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601967"/>
              <a:ext cx="4568825" cy="256540"/>
            </a:xfrm>
            <a:custGeom>
              <a:avLst/>
              <a:gdLst/>
              <a:ahLst/>
              <a:cxnLst/>
              <a:rect l="l" t="t" r="r" b="b"/>
              <a:pathLst>
                <a:path w="4568825" h="256540">
                  <a:moveTo>
                    <a:pt x="4568444" y="0"/>
                  </a:moveTo>
                  <a:lnTo>
                    <a:pt x="0" y="0"/>
                  </a:lnTo>
                  <a:lnTo>
                    <a:pt x="0" y="256032"/>
                  </a:lnTo>
                  <a:lnTo>
                    <a:pt x="4568444" y="256032"/>
                  </a:lnTo>
                  <a:lnTo>
                    <a:pt x="4568444" y="0"/>
                  </a:lnTo>
                  <a:close/>
                </a:path>
              </a:pathLst>
            </a:custGeom>
            <a:solidFill>
              <a:srgbClr val="2046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9144000" cy="256540"/>
            <a:chOff x="0" y="0"/>
            <a:chExt cx="9144000" cy="25654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4572000" cy="256540"/>
            </a:xfrm>
            <a:custGeom>
              <a:avLst/>
              <a:gdLst/>
              <a:ahLst/>
              <a:cxnLst/>
              <a:rect l="l" t="t" r="r" b="b"/>
              <a:pathLst>
                <a:path w="4572000" h="256540">
                  <a:moveTo>
                    <a:pt x="4572000" y="0"/>
                  </a:moveTo>
                  <a:lnTo>
                    <a:pt x="0" y="0"/>
                  </a:lnTo>
                  <a:lnTo>
                    <a:pt x="0" y="256031"/>
                  </a:lnTo>
                  <a:lnTo>
                    <a:pt x="4572000" y="256031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2046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0" y="0"/>
              <a:ext cx="4572000" cy="256540"/>
            </a:xfrm>
            <a:custGeom>
              <a:avLst/>
              <a:gdLst/>
              <a:ahLst/>
              <a:cxnLst/>
              <a:rect l="l" t="t" r="r" b="b"/>
              <a:pathLst>
                <a:path w="4572000" h="256540">
                  <a:moveTo>
                    <a:pt x="4572000" y="0"/>
                  </a:moveTo>
                  <a:lnTo>
                    <a:pt x="0" y="0"/>
                  </a:lnTo>
                  <a:lnTo>
                    <a:pt x="0" y="256031"/>
                  </a:lnTo>
                  <a:lnTo>
                    <a:pt x="4572000" y="256031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9992" y="236346"/>
            <a:ext cx="598220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800" b="1" dirty="0"/>
              <a:t>System Overview</a:t>
            </a:r>
            <a:endParaRPr lang="en-US" sz="480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479418" y="6633159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197" y="728478"/>
            <a:ext cx="8555355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2200" dirty="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buClr>
                <a:srgbClr val="1CACE3"/>
              </a:buClr>
              <a:buFont typeface="Arial MT"/>
              <a:buChar char="•"/>
              <a:tabLst>
                <a:tab pos="241935" algn="l"/>
              </a:tabLst>
            </a:pPr>
            <a:r>
              <a:rPr lang="en-US" sz="2200" dirty="0"/>
              <a:t>The proposed system evaluates interviews using three input sources: transcript, speech, and body language.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buClr>
                <a:srgbClr val="1CACE3"/>
              </a:buClr>
              <a:buFont typeface="Arial MT"/>
              <a:buChar char="•"/>
              <a:tabLst>
                <a:tab pos="241935" algn="l"/>
              </a:tabLst>
            </a:pPr>
            <a:r>
              <a:rPr lang="en-US" sz="2200" spc="-10" dirty="0">
                <a:solidFill>
                  <a:srgbClr val="404040"/>
                </a:solidFill>
                <a:latin typeface="Calibri"/>
                <a:cs typeface="Calibri"/>
              </a:rPr>
              <a:t>It combines these signals into a structured AI based evaluation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1CACE3"/>
              </a:buClr>
              <a:buFont typeface="Arial MT"/>
              <a:buChar char="•"/>
            </a:pPr>
            <a:endParaRPr sz="2200" dirty="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5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sz="2200" dirty="0"/>
              <a:t>The platform is designed to be explainable, auditable, and supportive of human decision-making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1CACE3"/>
              </a:buClr>
              <a:buFont typeface="Arial MT"/>
              <a:buChar char="•"/>
            </a:pPr>
            <a:endParaRPr sz="2200" dirty="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buClr>
                <a:srgbClr val="1CACE3"/>
              </a:buClr>
              <a:buFont typeface="Arial MT"/>
              <a:buChar char="•"/>
              <a:tabLst>
                <a:tab pos="241935" algn="l"/>
              </a:tabLst>
            </a:pPr>
            <a:r>
              <a:rPr lang="en-US" sz="2200" dirty="0"/>
              <a:t>Final results help reviewers assess candidates more consistently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804" y="9271"/>
            <a:ext cx="132588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System Overview </a:t>
            </a:r>
            <a:endParaRPr sz="1300" dirty="0">
              <a:latin typeface="Calibri"/>
              <a:cs typeface="Calibri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358E8A0-E9D2-7A90-53C5-16D211D7A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205" y="4083345"/>
            <a:ext cx="3312795" cy="25198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CCB5C48-00EA-2824-90AA-3645FA18F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002" y="4083345"/>
            <a:ext cx="2398950" cy="251862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7A89C3C-0047-89B6-DD48-A0B2E4A44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45" y="5377574"/>
            <a:ext cx="3435594" cy="12250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307D281-D414-205F-7828-A23B9E3BA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98" y="4083345"/>
            <a:ext cx="3435847" cy="1294229"/>
          </a:xfrm>
          <a:prstGeom prst="rect">
            <a:avLst/>
          </a:prstGeom>
        </p:spPr>
      </p:pic>
      <p:sp>
        <p:nvSpPr>
          <p:cNvPr id="31" name="object 11">
            <a:extLst>
              <a:ext uri="{FF2B5EF4-FFF2-40B4-BE49-F238E27FC236}">
                <a16:creationId xmlns:a16="http://schemas.microsoft.com/office/drawing/2014/main" id="{A99A294B-BF4F-435C-877D-F80C70FC858B}"/>
              </a:ext>
            </a:extLst>
          </p:cNvPr>
          <p:cNvSpPr txBox="1"/>
          <p:nvPr/>
        </p:nvSpPr>
        <p:spPr>
          <a:xfrm>
            <a:off x="4651795" y="9271"/>
            <a:ext cx="4666108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Multimodal AI-Based Recruitment Evaluation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Objectives</a:t>
            </a:r>
            <a:endParaRPr spc="-80" dirty="0"/>
          </a:p>
        </p:txBody>
      </p:sp>
      <p:sp>
        <p:nvSpPr>
          <p:cNvPr id="5" name="object 5"/>
          <p:cNvSpPr txBox="1"/>
          <p:nvPr/>
        </p:nvSpPr>
        <p:spPr>
          <a:xfrm>
            <a:off x="8910955" y="6610222"/>
            <a:ext cx="15494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lang="en-US" sz="20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2973" y="6621654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620" y="1015582"/>
            <a:ext cx="8580755" cy="5547031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lang="en-US" sz="1600" dirty="0"/>
              <a:t>To design, implement, and evaluate a multimodal AI-based recruitment evaluation system that supports structured, explainable, and human-controlled interview assessment.</a:t>
            </a: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endParaRPr sz="1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1600" dirty="0"/>
              <a:t>Objectives</a:t>
            </a:r>
            <a:r>
              <a:rPr sz="1700" b="1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/>
              <a:tabLst>
                <a:tab pos="469265" algn="l"/>
              </a:tabLst>
            </a:pPr>
            <a:r>
              <a:rPr lang="en-US" sz="1600" dirty="0"/>
              <a:t>Review existing AI-based recruitment and interview evaluation approaches.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Clr>
                <a:srgbClr val="1CACE3"/>
              </a:buClr>
              <a:buAutoNum type="arabicPeriod" startAt="2"/>
              <a:tabLst>
                <a:tab pos="469265" algn="l"/>
              </a:tabLst>
            </a:pPr>
            <a:r>
              <a:rPr lang="en-US" sz="1600" dirty="0"/>
              <a:t>Identify the limitations of manual, text-only, and fully automated evaluation methods.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dirty="0"/>
              <a:t>Design a multimodal system using transcript, speech, and body-language inputs.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Clr>
                <a:srgbClr val="1CACE3"/>
              </a:buClr>
              <a:buFont typeface="Calibri"/>
              <a:buAutoNum type="arabicPeriod" startAt="3"/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dirty="0"/>
              <a:t>Implement AI services for answer evaluation, speech emotion analysis, and body-language analysis. </a:t>
            </a: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endParaRPr lang="en-US" sz="1600" dirty="0"/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dirty="0"/>
              <a:t>Develop transparent competency scoring and recommendation logic.</a:t>
            </a: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endParaRPr lang="en-US" sz="1600" dirty="0"/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dirty="0"/>
              <a:t>Align the system with explainability, auditability, and EU AI Act requirements.</a:t>
            </a: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endParaRPr lang="en-US" sz="1600" dirty="0"/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dirty="0"/>
              <a:t>Evaluate the system through an illustrative interview session and system output.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Clr>
                <a:srgbClr val="1CACE3"/>
              </a:buClr>
              <a:buFont typeface="Calibri"/>
              <a:buAutoNum type="arabicPeriod" startAt="3"/>
            </a:pP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04" y="9271"/>
            <a:ext cx="838390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Objective of study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12D8755D-BE47-B8DB-2488-1CC026C6CC84}"/>
              </a:ext>
            </a:extLst>
          </p:cNvPr>
          <p:cNvSpPr txBox="1"/>
          <p:nvPr/>
        </p:nvSpPr>
        <p:spPr>
          <a:xfrm>
            <a:off x="4651795" y="9271"/>
            <a:ext cx="4666108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Multimodal AI-Based Recruitment Evaluation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C4D5-A9B5-91B7-C6A9-122996ED0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4E5C0A6-2CCB-347C-D3DB-7D0DC546C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Literature Review</a:t>
            </a:r>
            <a:endParaRPr spc="-8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9CBBD80-5423-FD66-37D1-BE09B76725C8}"/>
              </a:ext>
            </a:extLst>
          </p:cNvPr>
          <p:cNvSpPr txBox="1"/>
          <p:nvPr/>
        </p:nvSpPr>
        <p:spPr>
          <a:xfrm>
            <a:off x="8910955" y="6610222"/>
            <a:ext cx="15494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lang="en-US" sz="20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E37A4B2-0CAB-26E8-C12C-D032832B2BF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D3BB44E-54D6-0FEF-5032-24C58999231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37AEEBB-699E-671E-FFDC-B54FEF4B18AF}"/>
              </a:ext>
            </a:extLst>
          </p:cNvPr>
          <p:cNvSpPr txBox="1"/>
          <p:nvPr/>
        </p:nvSpPr>
        <p:spPr>
          <a:xfrm>
            <a:off x="3482973" y="6621654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F016C44-3185-85A8-3EEE-90B3FD60276C}"/>
              </a:ext>
            </a:extLst>
          </p:cNvPr>
          <p:cNvSpPr txBox="1"/>
          <p:nvPr/>
        </p:nvSpPr>
        <p:spPr>
          <a:xfrm>
            <a:off x="480543" y="1143000"/>
            <a:ext cx="8580755" cy="5867632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lang="en-US" sz="1600" dirty="0"/>
              <a:t>Previous research shows that AI can improve decision support systems by making evaluation more structured, data-driven, and consistent. In interview evaluation, three research areas are especially relevant: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/>
              <a:tabLst>
                <a:tab pos="469265" algn="l"/>
              </a:tabLst>
            </a:pPr>
            <a:r>
              <a:rPr lang="en-US" sz="1600" b="1" dirty="0"/>
              <a:t>Text and transcript analysis</a:t>
            </a:r>
            <a:br>
              <a:rPr lang="en-US" sz="1600" dirty="0"/>
            </a:br>
            <a:r>
              <a:rPr lang="en-US" sz="1600" dirty="0"/>
              <a:t>Natural language processing and large language models can evaluate answer relevance, evidence quality, role fit, and communication clarity.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Clr>
                <a:srgbClr val="1CACE3"/>
              </a:buClr>
              <a:buAutoNum type="arabicPeriod" startAt="2"/>
              <a:tabLst>
                <a:tab pos="469265" algn="l"/>
              </a:tabLst>
            </a:pPr>
            <a:r>
              <a:rPr lang="en-US" sz="1600" b="1" dirty="0"/>
              <a:t>Speech emotion analysis</a:t>
            </a:r>
            <a:br>
              <a:rPr lang="en-US" sz="1600" dirty="0"/>
            </a:br>
            <a:r>
              <a:rPr lang="en-US" sz="1600" dirty="0"/>
              <a:t>Audio features such as MFCCs, chroma, RMS energy, zero-crossing rate, and spectral </a:t>
            </a:r>
            <a:r>
              <a:rPr lang="en-US" sz="1600" dirty="0" err="1"/>
              <a:t>rolloff</a:t>
            </a:r>
            <a:r>
              <a:rPr lang="en-US" sz="1600" dirty="0"/>
              <a:t> can be used to detect emotional patterns such as stress, confidence, or nervousness.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b="1" dirty="0"/>
              <a:t>Body-language and visual analysis</a:t>
            </a:r>
            <a:br>
              <a:rPr lang="en-US" sz="1600" dirty="0"/>
            </a:br>
            <a:r>
              <a:rPr lang="en-US" sz="1600" dirty="0"/>
              <a:t>Computer vision techniques can estimate posture, eye contact, facial orientation, gestures, and engagement-related </a:t>
            </a:r>
            <a:r>
              <a:rPr lang="en-US" sz="1600" dirty="0" err="1"/>
              <a:t>behaviour</a:t>
            </a:r>
            <a:r>
              <a:rPr lang="en-US" sz="1600" dirty="0"/>
              <a:t>.</a:t>
            </a:r>
          </a:p>
          <a:p>
            <a:pPr marL="12700">
              <a:lnSpc>
                <a:spcPct val="100000"/>
              </a:lnSpc>
              <a:buClr>
                <a:srgbClr val="1CACE3"/>
              </a:buClr>
              <a:tabLst>
                <a:tab pos="469265" algn="l"/>
              </a:tabLst>
            </a:pPr>
            <a:endParaRPr lang="en-US" sz="1600" dirty="0"/>
          </a:p>
          <a:p>
            <a:pPr marL="12700">
              <a:lnSpc>
                <a:spcPct val="100000"/>
              </a:lnSpc>
              <a:buClr>
                <a:srgbClr val="1CACE3"/>
              </a:buClr>
              <a:tabLst>
                <a:tab pos="469265" algn="l"/>
              </a:tabLst>
            </a:pPr>
            <a:r>
              <a:rPr lang="en-US" sz="1600" dirty="0"/>
              <a:t>However, existing research also highlights ethical concerns: AI-based recruitment tools may introduce bias, over-interpret non-verbal signals, or create hidden automatic decision rules. Therefore, explainability and human oversight are necessary.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Clr>
                <a:srgbClr val="1CACE3"/>
              </a:buClr>
              <a:buFont typeface="Calibri"/>
              <a:buAutoNum type="arabicPeriod" startAt="3"/>
            </a:pP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Clr>
                <a:srgbClr val="1CACE3"/>
              </a:buClr>
            </a:pP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A70215-E83D-31C6-3003-83C5AFE4E536}"/>
              </a:ext>
            </a:extLst>
          </p:cNvPr>
          <p:cNvSpPr txBox="1"/>
          <p:nvPr/>
        </p:nvSpPr>
        <p:spPr>
          <a:xfrm>
            <a:off x="209804" y="9271"/>
            <a:ext cx="838390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r>
              <a:rPr lang="en-US" sz="1400" dirty="0">
                <a:solidFill>
                  <a:schemeClr val="bg1"/>
                </a:solidFill>
              </a:rPr>
              <a:t>Literature Review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DBE43776-ACA3-5449-3974-CC47F13954EE}"/>
              </a:ext>
            </a:extLst>
          </p:cNvPr>
          <p:cNvSpPr txBox="1"/>
          <p:nvPr/>
        </p:nvSpPr>
        <p:spPr>
          <a:xfrm>
            <a:off x="4651795" y="9271"/>
            <a:ext cx="4666108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Multimodal AI-Based Recruitment Evaluation System</a:t>
            </a:r>
          </a:p>
        </p:txBody>
      </p:sp>
    </p:spTree>
    <p:extLst>
      <p:ext uri="{BB962C8B-B14F-4D97-AF65-F5344CB8AC3E}">
        <p14:creationId xmlns:p14="http://schemas.microsoft.com/office/powerpoint/2010/main" val="253424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209F6-F8B7-61C5-1A74-955F23AA0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23BCC0A-F0CD-8EDA-449C-D8185D0FDB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Research Methodology</a:t>
            </a:r>
            <a:endParaRPr spc="-8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B547D33-E77E-2328-5032-3AF79EE88E70}"/>
              </a:ext>
            </a:extLst>
          </p:cNvPr>
          <p:cNvSpPr txBox="1"/>
          <p:nvPr/>
        </p:nvSpPr>
        <p:spPr>
          <a:xfrm>
            <a:off x="8910955" y="6610222"/>
            <a:ext cx="15494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lang="en-US" sz="20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D5A3FF6-09EB-6BB5-B1AC-9C1EE63E777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301CFF8-6BBE-C708-F254-E1936549321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65A90CA-AFC0-1117-3656-3DE7D54989A2}"/>
              </a:ext>
            </a:extLst>
          </p:cNvPr>
          <p:cNvSpPr txBox="1"/>
          <p:nvPr/>
        </p:nvSpPr>
        <p:spPr>
          <a:xfrm>
            <a:off x="3482973" y="6621654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E7576A-CC63-F683-5B88-54269725BADE}"/>
              </a:ext>
            </a:extLst>
          </p:cNvPr>
          <p:cNvSpPr txBox="1"/>
          <p:nvPr/>
        </p:nvSpPr>
        <p:spPr>
          <a:xfrm>
            <a:off x="330200" y="762000"/>
            <a:ext cx="8580755" cy="6606296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r>
              <a:rPr lang="en-US" sz="1600" dirty="0"/>
              <a:t>The research follows a design-and-implementation methodology:</a:t>
            </a: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/>
              <a:tabLst>
                <a:tab pos="469265" algn="l"/>
              </a:tabLst>
            </a:pPr>
            <a:r>
              <a:rPr lang="en-US" sz="1600" b="1" dirty="0"/>
              <a:t>Problem analysis</a:t>
            </a:r>
            <a:br>
              <a:rPr lang="en-US" sz="1600" dirty="0"/>
            </a:br>
            <a:r>
              <a:rPr lang="en-US" sz="1600" dirty="0"/>
              <a:t>Identify subjectivity, inconsistency, and lack of explainability in recruitment interviews.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Clr>
                <a:srgbClr val="1CACE3"/>
              </a:buClr>
              <a:buAutoNum type="arabicPeriod" startAt="2"/>
              <a:tabLst>
                <a:tab pos="469265" algn="l"/>
              </a:tabLst>
            </a:pPr>
            <a:r>
              <a:rPr lang="en-US" sz="1600" b="1" dirty="0"/>
              <a:t>Literature and market review</a:t>
            </a:r>
            <a:br>
              <a:rPr lang="en-US" sz="1600" dirty="0"/>
            </a:br>
            <a:r>
              <a:rPr lang="en-US" sz="1600" dirty="0"/>
              <a:t>Compare existing recruitment evaluation methods, AI interview tools, and regulatory requirements.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b="1" dirty="0"/>
              <a:t>System design</a:t>
            </a:r>
            <a:br>
              <a:rPr lang="en-US" sz="1600" dirty="0"/>
            </a:br>
            <a:r>
              <a:rPr lang="en-US" sz="1600" dirty="0"/>
              <a:t>Define the multimodal architecture, input channels, scoring logic, and human-review process.</a:t>
            </a: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endParaRPr lang="en-US" sz="1600" dirty="0"/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b="1" dirty="0"/>
              <a:t>Implementation</a:t>
            </a:r>
            <a:br>
              <a:rPr lang="en-US" sz="1600" dirty="0"/>
            </a:br>
            <a:r>
              <a:rPr lang="en-US" sz="1600" dirty="0"/>
              <a:t>Develop the frontend, AI services, LLM evaluation, database storage, and audit logging</a:t>
            </a: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endParaRPr lang="en-US" sz="1600" dirty="0"/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b="1" dirty="0"/>
              <a:t>Evaluation</a:t>
            </a:r>
            <a:br>
              <a:rPr lang="en-US" sz="1600" dirty="0"/>
            </a:br>
            <a:r>
              <a:rPr lang="en-US" sz="1600" dirty="0"/>
              <a:t>Test the system using an illustrative interview scenario and assess whether outputs are explainable, structured, and reviewable.</a:t>
            </a:r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endParaRPr lang="en-US" sz="1600" dirty="0"/>
          </a:p>
          <a:p>
            <a:pPr marL="469265" indent="-456565">
              <a:lnSpc>
                <a:spcPct val="100000"/>
              </a:lnSpc>
              <a:buClr>
                <a:srgbClr val="1CACE3"/>
              </a:buClr>
              <a:buAutoNum type="arabicPeriod" startAt="3"/>
              <a:tabLst>
                <a:tab pos="469265" algn="l"/>
              </a:tabLst>
            </a:pPr>
            <a:r>
              <a:rPr lang="en-US" sz="1600" b="1" dirty="0"/>
              <a:t>Ethical and regulatory analysis</a:t>
            </a:r>
            <a:br>
              <a:rPr lang="en-US" sz="1600" dirty="0"/>
            </a:br>
            <a:r>
              <a:rPr lang="en-US" sz="1600" dirty="0"/>
              <a:t>Assess how the system avoids fully automated hiring and supports human oversight.</a:t>
            </a:r>
          </a:p>
          <a:p>
            <a:pPr marL="12700">
              <a:lnSpc>
                <a:spcPct val="100000"/>
              </a:lnSpc>
              <a:buClr>
                <a:srgbClr val="1CACE3"/>
              </a:buClr>
              <a:tabLst>
                <a:tab pos="469265" algn="l"/>
              </a:tabLst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350"/>
              </a:spcBef>
              <a:buClr>
                <a:srgbClr val="1CACE3"/>
              </a:buClr>
              <a:buFont typeface="Calibri"/>
              <a:buAutoNum type="arabicPeriod" startAt="3"/>
            </a:pP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Clr>
                <a:srgbClr val="1CACE3"/>
              </a:buClr>
            </a:pP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2B2A5D-B1F1-13EE-5394-6EE98E7F7076}"/>
              </a:ext>
            </a:extLst>
          </p:cNvPr>
          <p:cNvSpPr txBox="1"/>
          <p:nvPr/>
        </p:nvSpPr>
        <p:spPr>
          <a:xfrm>
            <a:off x="209804" y="9271"/>
            <a:ext cx="838390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r>
              <a:rPr lang="en-US" sz="1400" dirty="0">
                <a:solidFill>
                  <a:schemeClr val="bg1"/>
                </a:solidFill>
              </a:rPr>
              <a:t>Research Methodology</a:t>
            </a:r>
            <a:r>
              <a:rPr sz="1300" dirty="0">
                <a:solidFill>
                  <a:schemeClr val="bg1"/>
                </a:solidFill>
                <a:latin typeface="Calibri"/>
                <a:cs typeface="Calibri"/>
              </a:rPr>
              <a:t>	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03559CAD-4A1D-6773-2801-2B7D4B5EFB35}"/>
              </a:ext>
            </a:extLst>
          </p:cNvPr>
          <p:cNvSpPr txBox="1"/>
          <p:nvPr/>
        </p:nvSpPr>
        <p:spPr>
          <a:xfrm>
            <a:off x="4651795" y="9271"/>
            <a:ext cx="4666108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Multimodal AI-Based Recruitment Evaluation System</a:t>
            </a:r>
          </a:p>
        </p:txBody>
      </p:sp>
    </p:spTree>
    <p:extLst>
      <p:ext uri="{BB962C8B-B14F-4D97-AF65-F5344CB8AC3E}">
        <p14:creationId xmlns:p14="http://schemas.microsoft.com/office/powerpoint/2010/main" val="3852213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System Architecture</a:t>
            </a:r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2974" y="666572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4170" y="1066800"/>
            <a:ext cx="8585835" cy="58832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6545">
              <a:lnSpc>
                <a:spcPct val="140000"/>
              </a:lnSpc>
              <a:spcBef>
                <a:spcPts val="100"/>
              </a:spcBef>
            </a:pPr>
            <a:r>
              <a:rPr lang="en-US" sz="2400" dirty="0"/>
              <a:t>This slide presents the overall architecture of the proposed multimodal AI-based interview evaluation system.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Specifically:</a:t>
            </a:r>
            <a:endParaRPr sz="2200" dirty="0">
              <a:latin typeface="Calibri"/>
              <a:cs typeface="Calibri"/>
            </a:endParaRPr>
          </a:p>
          <a:p>
            <a:pPr marL="242570" marR="5080" indent="-230504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sz="2200" dirty="0"/>
              <a:t>Frontend: Next.js interface for conducting the interview	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246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sz="2200" dirty="0"/>
              <a:t>AI services: speech emotion analysis and body-language analysis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2570" marR="524510" indent="-230504">
              <a:lnSpc>
                <a:spcPct val="140000"/>
              </a:lnSpc>
              <a:spcBef>
                <a:spcPts val="141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sz="2200" dirty="0"/>
              <a:t>LLM evaluation: analyzes transcript answers and scores competencies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lang="en-US" sz="220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242570" marR="524510" indent="-230504">
              <a:lnSpc>
                <a:spcPct val="140000"/>
              </a:lnSpc>
              <a:spcBef>
                <a:spcPts val="141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sz="2200" dirty="0"/>
              <a:t>Database/storage: stores scores, feedback, logs, and interview results</a:t>
            </a:r>
            <a:r>
              <a:rPr lang="en-US" sz="22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</a:p>
          <a:p>
            <a:pPr marL="242570" marR="524510" indent="-230504">
              <a:lnSpc>
                <a:spcPct val="140000"/>
              </a:lnSpc>
              <a:spcBef>
                <a:spcPts val="141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04" y="9271"/>
            <a:ext cx="90865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Study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spc="-10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992" y="151003"/>
            <a:ext cx="933500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80" dirty="0"/>
              <a:t>Research Gap, Market Comparison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209804" y="9271"/>
            <a:ext cx="90865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sz="1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Approaches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88430" y="4520958"/>
            <a:ext cx="2856865" cy="1188720"/>
          </a:xfrm>
          <a:custGeom>
            <a:avLst/>
            <a:gdLst/>
            <a:ahLst/>
            <a:cxnLst/>
            <a:rect l="l" t="t" r="r" b="b"/>
            <a:pathLst>
              <a:path w="2856865" h="1188720">
                <a:moveTo>
                  <a:pt x="2856483" y="0"/>
                </a:moveTo>
                <a:lnTo>
                  <a:pt x="0" y="0"/>
                </a:lnTo>
                <a:lnTo>
                  <a:pt x="0" y="1188720"/>
                </a:lnTo>
                <a:lnTo>
                  <a:pt x="2856483" y="1188720"/>
                </a:lnTo>
                <a:lnTo>
                  <a:pt x="2856483" y="0"/>
                </a:lnTo>
                <a:close/>
              </a:path>
            </a:pathLst>
          </a:custGeom>
          <a:solidFill>
            <a:srgbClr val="CC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630192"/>
              </p:ext>
            </p:extLst>
          </p:nvPr>
        </p:nvGraphicFramePr>
        <p:xfrm>
          <a:off x="275138" y="1043063"/>
          <a:ext cx="8568690" cy="4666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6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6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b="0" dirty="0"/>
                        <a:t>Rule-based interview scoring </a:t>
                      </a:r>
                      <a:endParaRPr sz="1800" b="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708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dirty="0"/>
                        <a:t>Uses fixed rubrics, checklists, or manually defined scoring rules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Rigid, limited adaptability, and may miss nuanced candidate signals</a:t>
                      </a: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Traditional interviews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43204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Human judgment based on notes and impressions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3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Subjective and inconsistent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0805" marR="6794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Structured interviews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677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Same questions and scoring rubric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600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Still depends on human interpretation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AI text-only evaluation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89255" algn="just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Scores transcript answers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Misses speech and body-language signals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Multimodal AI evaluation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774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Uses transcript, speech, and body language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514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dirty="0"/>
                        <a:t>Needs explainability and human oversight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54279" y="5833059"/>
            <a:ext cx="85521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dirty="0"/>
              <a:t>Why multimodal? It captures richer interview signals than text-only methods while supporting more structured evaluation.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82975" y="665463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181F3-58D4-6320-24E7-8E3CF626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485C571-19E3-9B44-2FE6-08F07E9903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992" y="151003"/>
            <a:ext cx="933500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Scientific Novelty </a:t>
            </a:r>
            <a:endParaRPr spc="-8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BBB6241-4E55-76DD-06B7-C9DC93A042D0}"/>
              </a:ext>
            </a:extLst>
          </p:cNvPr>
          <p:cNvSpPr txBox="1"/>
          <p:nvPr/>
        </p:nvSpPr>
        <p:spPr>
          <a:xfrm>
            <a:off x="209804" y="9271"/>
            <a:ext cx="90865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sz="1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Approaches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91A5AF1-FF8B-2666-F500-DE4B822A022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610222"/>
            <a:ext cx="493395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FC6B4A7-16AB-010A-AA4F-9CEB9A34807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0AA0102-168E-6DE9-C1A1-49561F28C9D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C695F0C-30BC-9D6E-47A5-3166F91E12B4}"/>
              </a:ext>
            </a:extLst>
          </p:cNvPr>
          <p:cNvSpPr txBox="1"/>
          <p:nvPr/>
        </p:nvSpPr>
        <p:spPr>
          <a:xfrm>
            <a:off x="3482975" y="665463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4C0493-00D0-73E7-60B1-620AE20FD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9011"/>
            <a:ext cx="8229600" cy="54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68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9804" y="451115"/>
            <a:ext cx="92588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600" b="1" dirty="0"/>
              <a:t>System Architecture and Proposed Framework</a:t>
            </a:r>
            <a:endParaRPr lang="en-US"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209804" y="9271"/>
            <a:ext cx="89341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System Overview &amp;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Proposed</a:t>
            </a:r>
            <a:r>
              <a:rPr sz="1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Framework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610600" y="6629400"/>
            <a:ext cx="569595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81374" y="666572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CC8D964-7278-A0E7-A0DD-E3EA9F9951C5}"/>
              </a:ext>
            </a:extLst>
          </p:cNvPr>
          <p:cNvSpPr/>
          <p:nvPr/>
        </p:nvSpPr>
        <p:spPr>
          <a:xfrm>
            <a:off x="806602" y="1324308"/>
            <a:ext cx="10363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Guided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interview</a:t>
            </a:r>
            <a:endParaRPr lang="en-US" sz="14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4AA91C13-3318-DFDA-1CC2-CDE89A9CE880}"/>
              </a:ext>
            </a:extLst>
          </p:cNvPr>
          <p:cNvSpPr/>
          <p:nvPr/>
        </p:nvSpPr>
        <p:spPr>
          <a:xfrm>
            <a:off x="1906930" y="1507188"/>
            <a:ext cx="146304" cy="164592"/>
          </a:xfrm>
          <a:prstGeom prst="chevron">
            <a:avLst/>
          </a:prstGeom>
          <a:solidFill>
            <a:srgbClr val="B4C7E7"/>
          </a:solidFill>
          <a:ln w="12700">
            <a:solidFill>
              <a:srgbClr val="B4C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A99B890-15C5-DB1E-0C04-7A4976A7C11B}"/>
              </a:ext>
            </a:extLst>
          </p:cNvPr>
          <p:cNvSpPr/>
          <p:nvPr/>
        </p:nvSpPr>
        <p:spPr>
          <a:xfrm>
            <a:off x="2025802" y="1324308"/>
            <a:ext cx="10363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Transcript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analysis</a:t>
            </a:r>
            <a:endParaRPr lang="en-US" sz="140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CB0901B7-9D01-E02B-E346-8DEEAE9D3B54}"/>
              </a:ext>
            </a:extLst>
          </p:cNvPr>
          <p:cNvSpPr/>
          <p:nvPr/>
        </p:nvSpPr>
        <p:spPr>
          <a:xfrm>
            <a:off x="3126130" y="1507188"/>
            <a:ext cx="146304" cy="164592"/>
          </a:xfrm>
          <a:prstGeom prst="chevron">
            <a:avLst/>
          </a:prstGeom>
          <a:solidFill>
            <a:srgbClr val="B4C7E7"/>
          </a:solidFill>
          <a:ln w="12700">
            <a:solidFill>
              <a:srgbClr val="B4C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99A9B07-D674-3454-972F-A1E0B385BEC9}"/>
              </a:ext>
            </a:extLst>
          </p:cNvPr>
          <p:cNvSpPr/>
          <p:nvPr/>
        </p:nvSpPr>
        <p:spPr>
          <a:xfrm>
            <a:off x="3245002" y="1324308"/>
            <a:ext cx="10363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Audio AI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service</a:t>
            </a:r>
            <a:endParaRPr lang="en-US" sz="14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DBE3017E-7D5E-CB25-E0B0-34F6EB0B6607}"/>
              </a:ext>
            </a:extLst>
          </p:cNvPr>
          <p:cNvSpPr/>
          <p:nvPr/>
        </p:nvSpPr>
        <p:spPr>
          <a:xfrm>
            <a:off x="4345330" y="1507188"/>
            <a:ext cx="146304" cy="164592"/>
          </a:xfrm>
          <a:prstGeom prst="chevron">
            <a:avLst/>
          </a:prstGeom>
          <a:solidFill>
            <a:srgbClr val="B4C7E7"/>
          </a:solidFill>
          <a:ln w="12700">
            <a:solidFill>
              <a:srgbClr val="B4C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7F9379E7-C848-33F9-6BEA-0751DF0A3540}"/>
              </a:ext>
            </a:extLst>
          </p:cNvPr>
          <p:cNvSpPr/>
          <p:nvPr/>
        </p:nvSpPr>
        <p:spPr>
          <a:xfrm>
            <a:off x="4464202" y="1324308"/>
            <a:ext cx="10363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Body AI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service</a:t>
            </a:r>
            <a:endParaRPr lang="en-US" sz="14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DBA6E541-5031-729D-B72F-8E424E8001DB}"/>
              </a:ext>
            </a:extLst>
          </p:cNvPr>
          <p:cNvSpPr/>
          <p:nvPr/>
        </p:nvSpPr>
        <p:spPr>
          <a:xfrm>
            <a:off x="5564530" y="1507188"/>
            <a:ext cx="146304" cy="164592"/>
          </a:xfrm>
          <a:prstGeom prst="chevron">
            <a:avLst/>
          </a:prstGeom>
          <a:solidFill>
            <a:srgbClr val="B4C7E7"/>
          </a:solidFill>
          <a:ln w="12700">
            <a:solidFill>
              <a:srgbClr val="B4C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35042F8-084B-F916-1999-D0A8277008F3}"/>
              </a:ext>
            </a:extLst>
          </p:cNvPr>
          <p:cNvSpPr/>
          <p:nvPr/>
        </p:nvSpPr>
        <p:spPr>
          <a:xfrm>
            <a:off x="5683402" y="1324308"/>
            <a:ext cx="10363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Role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criteria</a:t>
            </a:r>
            <a:endParaRPr lang="en-US" sz="14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6F7663B-C663-5985-1DAA-2ECC9EDDB839}"/>
              </a:ext>
            </a:extLst>
          </p:cNvPr>
          <p:cNvSpPr/>
          <p:nvPr/>
        </p:nvSpPr>
        <p:spPr>
          <a:xfrm>
            <a:off x="6783730" y="1507188"/>
            <a:ext cx="146304" cy="164592"/>
          </a:xfrm>
          <a:prstGeom prst="chevron">
            <a:avLst/>
          </a:prstGeom>
          <a:solidFill>
            <a:srgbClr val="B4C7E7"/>
          </a:solidFill>
          <a:ln w="12700">
            <a:solidFill>
              <a:srgbClr val="B4C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DAE0FC6-73CA-D3F4-82DC-D7E61C083CE9}"/>
              </a:ext>
            </a:extLst>
          </p:cNvPr>
          <p:cNvSpPr/>
          <p:nvPr/>
        </p:nvSpPr>
        <p:spPr>
          <a:xfrm>
            <a:off x="6902602" y="1324308"/>
            <a:ext cx="10363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Audit log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&amp; storage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ECD606C-49C0-4764-847B-DBCEA9569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47" y="3404330"/>
            <a:ext cx="7229475" cy="828675"/>
          </a:xfrm>
          <a:prstGeom prst="rect">
            <a:avLst/>
          </a:prstGeom>
        </p:spPr>
      </p:pic>
      <p:sp>
        <p:nvSpPr>
          <p:cNvPr id="24" name="Text 19">
            <a:extLst>
              <a:ext uri="{FF2B5EF4-FFF2-40B4-BE49-F238E27FC236}">
                <a16:creationId xmlns:a16="http://schemas.microsoft.com/office/drawing/2014/main" id="{8DDEBEB2-62B2-CA64-6F44-9282026503E4}"/>
              </a:ext>
            </a:extLst>
          </p:cNvPr>
          <p:cNvSpPr/>
          <p:nvPr/>
        </p:nvSpPr>
        <p:spPr>
          <a:xfrm>
            <a:off x="880150" y="1909689"/>
            <a:ext cx="7223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browser-side inference, two custom ML APIs, LLM answer scoring, O*NET competency lookup, persistent storage, and audit logging.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explainable results with an auditable human-override flow instead of fully autonomous hiring decisions.</a:t>
            </a:r>
            <a:endParaRPr lang="en-US" sz="14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289A9E1B-2240-30CF-7DD0-FCFEF2BB8904}"/>
              </a:ext>
            </a:extLst>
          </p:cNvPr>
          <p:cNvSpPr/>
          <p:nvPr/>
        </p:nvSpPr>
        <p:spPr>
          <a:xfrm>
            <a:off x="849274" y="4572806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conductor</a:t>
            </a:r>
            <a:endParaRPr lang="en-US" sz="14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D014AF1B-AEC8-F136-E5D6-5757508905B8}"/>
              </a:ext>
            </a:extLst>
          </p:cNvPr>
          <p:cNvSpPr/>
          <p:nvPr/>
        </p:nvSpPr>
        <p:spPr>
          <a:xfrm>
            <a:off x="849274" y="4773974"/>
            <a:ext cx="202082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or GPT-4o-mini guides the interview, asks questions, and evaluates answers using structured prompts.</a:t>
            </a:r>
            <a:endParaRPr lang="en-US" sz="140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FDBB40D5-5093-79F6-84A0-A2559D10E273}"/>
              </a:ext>
            </a:extLst>
          </p:cNvPr>
          <p:cNvSpPr/>
          <p:nvPr/>
        </p:nvSpPr>
        <p:spPr>
          <a:xfrm>
            <a:off x="3272434" y="4572806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sidecars</a:t>
            </a:r>
            <a:endParaRPr lang="en-US" sz="14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3660FD23-42DB-DEAE-24EA-2AF62B726E7C}"/>
              </a:ext>
            </a:extLst>
          </p:cNvPr>
          <p:cNvSpPr/>
          <p:nvPr/>
        </p:nvSpPr>
        <p:spPr>
          <a:xfrm>
            <a:off x="3272434" y="4773974"/>
            <a:ext cx="202082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services provide speech emotion prediction and body-language analytics in real time.</a:t>
            </a:r>
            <a:endParaRPr lang="en-US" sz="14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8D74E656-F54C-1049-0737-081BAFB791B3}"/>
              </a:ext>
            </a:extLst>
          </p:cNvPr>
          <p:cNvSpPr/>
          <p:nvPr/>
        </p:nvSpPr>
        <p:spPr>
          <a:xfrm>
            <a:off x="5695594" y="4572806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A0AD76E6-5633-D3F7-A0EA-1504E9666BE8}"/>
              </a:ext>
            </a:extLst>
          </p:cNvPr>
          <p:cNvSpPr/>
          <p:nvPr/>
        </p:nvSpPr>
        <p:spPr>
          <a:xfrm>
            <a:off x="5695594" y="4773974"/>
            <a:ext cx="202082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Scores, telemetry, evidence quotes, logs, and exports are stored for later review.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4C9B-DAD6-0B84-E1B6-81B79482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5759598F-FA3B-63DD-0D0D-9A70EF0F3D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804" y="451115"/>
            <a:ext cx="92588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600" b="1" dirty="0"/>
              <a:t>Type of AI Agents in the System</a:t>
            </a:r>
            <a:endParaRPr lang="en-US" sz="360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AA3D753-5E3C-FB57-207E-66DAC62054C8}"/>
              </a:ext>
            </a:extLst>
          </p:cNvPr>
          <p:cNvSpPr txBox="1"/>
          <p:nvPr/>
        </p:nvSpPr>
        <p:spPr>
          <a:xfrm>
            <a:off x="209804" y="9271"/>
            <a:ext cx="89341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System Overview &amp;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Proposed</a:t>
            </a:r>
            <a:r>
              <a:rPr sz="1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Framework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F6531E3-984A-D7B6-84CF-6D055FDD66C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610222"/>
            <a:ext cx="63881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A8F7568-BAFE-EED3-A50F-CE67C2ECBC8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C248DFC-0DA2-5FD4-C09F-D402DAFA2AE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D7B6934-F6B9-7780-CF10-6EA81D580ED6}"/>
              </a:ext>
            </a:extLst>
          </p:cNvPr>
          <p:cNvSpPr txBox="1"/>
          <p:nvPr/>
        </p:nvSpPr>
        <p:spPr>
          <a:xfrm>
            <a:off x="3481374" y="666572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9ED1226-C726-AA1D-BD64-AE8E45EFB4EF}"/>
              </a:ext>
            </a:extLst>
          </p:cNvPr>
          <p:cNvSpPr txBox="1"/>
          <p:nvPr/>
        </p:nvSpPr>
        <p:spPr>
          <a:xfrm>
            <a:off x="279081" y="990600"/>
            <a:ext cx="8585835" cy="55197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6" marR="5080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tabLst>
                <a:tab pos="242570" algn="l"/>
              </a:tabLst>
            </a:pPr>
            <a:r>
              <a:rPr lang="en-US" dirty="0"/>
              <a:t>The platform is best described as a cooperative multi-agent AI decision-support system.</a:t>
            </a:r>
          </a:p>
          <a:p>
            <a:pPr marL="12066" marR="5080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tabLst>
                <a:tab pos="242570" algn="l"/>
              </a:tabLst>
            </a:pPr>
            <a:r>
              <a:rPr lang="en-US" b="1" dirty="0"/>
              <a:t>Answer Evaluator: LLM </a:t>
            </a:r>
            <a:r>
              <a:rPr lang="en-US" b="1" dirty="0" err="1"/>
              <a:t>Agent</a:t>
            </a:r>
            <a:r>
              <a:rPr lang="en-US" dirty="0" err="1"/>
              <a:t>,</a:t>
            </a:r>
            <a:r>
              <a:rPr lang="en-US" sz="1800" dirty="0" err="1">
                <a:solidFill>
                  <a:srgbClr val="1E2936"/>
                </a:solidFill>
              </a:rPr>
              <a:t>Evaluates</a:t>
            </a:r>
            <a:r>
              <a:rPr lang="en-US" sz="1800" dirty="0">
                <a:solidFill>
                  <a:srgbClr val="1E2936"/>
                </a:solidFill>
              </a:rPr>
              <a:t> transcript answers against a structured rubric: relevance, communication, evidence, role fit.</a:t>
            </a:r>
            <a:r>
              <a:rPr lang="en-US" dirty="0"/>
              <a:t>	</a:t>
            </a:r>
            <a:endParaRPr lang="en-US" dirty="0">
              <a:latin typeface="Calibri"/>
              <a:cs typeface="Calibri"/>
            </a:endParaRPr>
          </a:p>
          <a:p>
            <a:pPr marL="12066" marR="5080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tabLst>
                <a:tab pos="242570" algn="l"/>
              </a:tabLst>
            </a:pPr>
            <a:r>
              <a:rPr lang="en-US" b="1" dirty="0"/>
              <a:t>Body Language Analyzer: Computer Vision ML Agent</a:t>
            </a:r>
            <a:r>
              <a:rPr lang="en-US" dirty="0"/>
              <a:t>, </a:t>
            </a:r>
            <a:r>
              <a:rPr lang="en-US" sz="1800" dirty="0">
                <a:solidFill>
                  <a:srgbClr val="1E2936"/>
                </a:solidFill>
              </a:rPr>
              <a:t>Uses </a:t>
            </a:r>
            <a:r>
              <a:rPr lang="en-US" sz="1800" dirty="0" err="1">
                <a:solidFill>
                  <a:srgbClr val="1E2936"/>
                </a:solidFill>
              </a:rPr>
              <a:t>MediaPipe</a:t>
            </a:r>
            <a:r>
              <a:rPr lang="en-US" sz="1800" dirty="0">
                <a:solidFill>
                  <a:srgbClr val="1E2936"/>
                </a:solidFill>
              </a:rPr>
              <a:t> landmarks and Random Forest to estimate posture, engagement, and behavioral state.</a:t>
            </a:r>
            <a:r>
              <a:rPr lang="en-US" dirty="0"/>
              <a:t>	</a:t>
            </a:r>
          </a:p>
          <a:p>
            <a:pPr marL="12066" marR="5080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tabLst>
                <a:tab pos="242570" algn="l"/>
              </a:tabLst>
            </a:pPr>
            <a:r>
              <a:rPr lang="en-US" b="1" dirty="0">
                <a:latin typeface="Calibri"/>
                <a:cs typeface="Calibri"/>
              </a:rPr>
              <a:t>Speech Emotion </a:t>
            </a:r>
            <a:r>
              <a:rPr lang="en-US" b="1" dirty="0" err="1">
                <a:latin typeface="Calibri"/>
                <a:cs typeface="Calibri"/>
              </a:rPr>
              <a:t>Detector:Audio</a:t>
            </a:r>
            <a:r>
              <a:rPr lang="en-US" b="1" dirty="0">
                <a:latin typeface="Calibri"/>
                <a:cs typeface="Calibri"/>
              </a:rPr>
              <a:t> ML Agent</a:t>
            </a:r>
            <a:r>
              <a:rPr lang="en-US" dirty="0">
                <a:latin typeface="Calibri"/>
                <a:cs typeface="Calibri"/>
              </a:rPr>
              <a:t>, </a:t>
            </a:r>
            <a:r>
              <a:rPr lang="en-US" sz="1800" dirty="0">
                <a:solidFill>
                  <a:srgbClr val="1E2936"/>
                </a:solidFill>
              </a:rPr>
              <a:t>Uses MFCC, chroma, RMS, and spectral features to classify relaxed, happy, stressed, or nervous states.</a:t>
            </a:r>
          </a:p>
          <a:p>
            <a:pPr marL="12066" marR="5080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tabLst>
                <a:tab pos="242570" algn="l"/>
              </a:tabLst>
            </a:pPr>
            <a:r>
              <a:rPr lang="en-US" b="1" dirty="0">
                <a:solidFill>
                  <a:srgbClr val="1E2936"/>
                </a:solidFill>
              </a:rPr>
              <a:t>Fusion Orchestrator: Rule Based Agent</a:t>
            </a:r>
            <a:r>
              <a:rPr lang="en-US" dirty="0">
                <a:solidFill>
                  <a:srgbClr val="1E2936"/>
                </a:solidFill>
              </a:rPr>
              <a:t>, </a:t>
            </a:r>
            <a:r>
              <a:rPr lang="en-US" sz="1800" dirty="0">
                <a:solidFill>
                  <a:srgbClr val="1E2936"/>
                </a:solidFill>
              </a:rPr>
              <a:t>Combines stream outputs using transparent weights and produces a reviewable recommendation.</a:t>
            </a:r>
            <a:endParaRPr lang="en-US" sz="1800" dirty="0"/>
          </a:p>
          <a:p>
            <a:pPr marL="12066" marR="5080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tabLst>
                <a:tab pos="242570" algn="l"/>
              </a:tabLs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58806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36346"/>
            <a:ext cx="898652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400" b="1" dirty="0"/>
              <a:t>Datasets and Training Pipelines</a:t>
            </a:r>
            <a:endParaRPr lang="en-US" sz="4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86800" y="6610222"/>
            <a:ext cx="417195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2974" y="665463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04" y="9271"/>
            <a:ext cx="94675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Datasets and Training Pipelines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3EFCEA82-4536-EE5D-EFE1-CF4F97A5BD2A}"/>
              </a:ext>
            </a:extLst>
          </p:cNvPr>
          <p:cNvSpPr/>
          <p:nvPr/>
        </p:nvSpPr>
        <p:spPr>
          <a:xfrm>
            <a:off x="502920" y="914400"/>
            <a:ext cx="2468880" cy="38404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819C14E-D0FC-3F8E-1F9E-DB5FF37ADD8F}"/>
              </a:ext>
            </a:extLst>
          </p:cNvPr>
          <p:cNvSpPr/>
          <p:nvPr/>
        </p:nvSpPr>
        <p:spPr>
          <a:xfrm>
            <a:off x="612648" y="987552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emotion datasets</a:t>
            </a:r>
            <a:endParaRPr lang="en-US" sz="12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B7CD3BF-41A1-4DCD-914F-5CAF6B6A9827}"/>
              </a:ext>
            </a:extLst>
          </p:cNvPr>
          <p:cNvSpPr/>
          <p:nvPr/>
        </p:nvSpPr>
        <p:spPr>
          <a:xfrm>
            <a:off x="612648" y="1188720"/>
            <a:ext cx="2249424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RAVDESS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~1,440 WAV 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 actors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original emotions remapped to 4 classes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CREMA-D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~7,442 WAV 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91 actors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Combined training set: ~8,882 samples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classes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relaxed, happy, stressed, nervous</a:t>
            </a:r>
            <a:endParaRPr lang="en-US" sz="12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88EF4106-E2C5-E0BE-A79D-C4D96855CE3D}"/>
              </a:ext>
            </a:extLst>
          </p:cNvPr>
          <p:cNvSpPr/>
          <p:nvPr/>
        </p:nvSpPr>
        <p:spPr>
          <a:xfrm>
            <a:off x="3154680" y="914400"/>
            <a:ext cx="2468880" cy="38404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E42CB7C9-61F3-105D-5F0B-17DF73685BD3}"/>
              </a:ext>
            </a:extLst>
          </p:cNvPr>
          <p:cNvSpPr/>
          <p:nvPr/>
        </p:nvSpPr>
        <p:spPr>
          <a:xfrm>
            <a:off x="3264408" y="987552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Body-language dataset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AE05D9F0-1C27-F1FE-A022-30A189F85B29}"/>
              </a:ext>
            </a:extLst>
          </p:cNvPr>
          <p:cNvSpPr/>
          <p:nvPr/>
        </p:nvSpPr>
        <p:spPr>
          <a:xfrm>
            <a:off x="3264408" y="1188720"/>
            <a:ext cx="2249424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MP4 videos covering behavioral states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~400 frames sampled per video with OpenCV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MediaPipe pose: 33 keypoints × 3 = 99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MediaPipe face: 478 landmarks × 3 = 1,434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per-frame vector: 1,533 features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classes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Confident, Enthusiastic, Surprised, Confused, Nervous, Stressed, Disengaged</a:t>
            </a:r>
            <a:endParaRPr lang="en-US" sz="12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3A5A0B05-E237-B153-50EC-3858EF319DFA}"/>
              </a:ext>
            </a:extLst>
          </p:cNvPr>
          <p:cNvSpPr/>
          <p:nvPr/>
        </p:nvSpPr>
        <p:spPr>
          <a:xfrm>
            <a:off x="5806440" y="914400"/>
            <a:ext cx="2697480" cy="384048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DD438BA6-762E-48FD-C2FC-2FE6F48E29B4}"/>
              </a:ext>
            </a:extLst>
          </p:cNvPr>
          <p:cNvSpPr/>
          <p:nvPr/>
        </p:nvSpPr>
        <p:spPr>
          <a:xfrm>
            <a:off x="5916168" y="987552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pipelines</a:t>
            </a:r>
            <a:endParaRPr lang="en-US" sz="12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FFE236F0-15CD-09E4-78F5-93C1DAE22D38}"/>
              </a:ext>
            </a:extLst>
          </p:cNvPr>
          <p:cNvSpPr/>
          <p:nvPr/>
        </p:nvSpPr>
        <p:spPr>
          <a:xfrm>
            <a:off x="5916168" y="1188720"/>
            <a:ext cx="2478024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model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WAV → feature extraction → StandardScaler → RandomForest → 4-class output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Body-language model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→ landmarks → StandardScaler → RandomForest → 7-class output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artifacts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emotion_model.pkl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body_language_model.pkl</a:t>
            </a:r>
            <a:endParaRPr lang="en-US" sz="1200" dirty="0"/>
          </a:p>
        </p:txBody>
      </p:sp>
      <p:pic>
        <p:nvPicPr>
          <p:cNvPr id="18" name="Picture 17" descr="07_dataset_dist.png">
            <a:extLst>
              <a:ext uri="{FF2B5EF4-FFF2-40B4-BE49-F238E27FC236}">
                <a16:creationId xmlns:a16="http://schemas.microsoft.com/office/drawing/2014/main" id="{22AEABF4-88F8-754E-D2E1-86D033664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504" y="5024064"/>
            <a:ext cx="9282962" cy="15471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spc="-95" dirty="0"/>
              <a:t>Speech Emotions Analysis Service</a:t>
            </a:r>
            <a:endParaRPr spc="-10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610600" y="6610222"/>
            <a:ext cx="493395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2005"/>
              </a:lnSpc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82974" y="6647180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804" y="9271"/>
            <a:ext cx="92389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Speech Emotions </a:t>
            </a:r>
            <a:r>
              <a:rPr lang="en-US" sz="1300" dirty="0" err="1">
                <a:solidFill>
                  <a:srgbClr val="FFFFFF"/>
                </a:solidFill>
                <a:latin typeface="Calibri"/>
                <a:cs typeface="Calibri"/>
              </a:rPr>
              <a:t>Analaysis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 Services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C6F7E700-A1B0-D2C3-62D1-C333B19B519F}"/>
              </a:ext>
            </a:extLst>
          </p:cNvPr>
          <p:cNvSpPr/>
          <p:nvPr/>
        </p:nvSpPr>
        <p:spPr>
          <a:xfrm>
            <a:off x="502920" y="914400"/>
            <a:ext cx="3840480" cy="384048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DD0714FD-FB4E-CE3C-56DF-E75D1B520B23}"/>
              </a:ext>
            </a:extLst>
          </p:cNvPr>
          <p:cNvSpPr/>
          <p:nvPr/>
        </p:nvSpPr>
        <p:spPr>
          <a:xfrm>
            <a:off x="612648" y="987552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and formulas</a:t>
            </a:r>
            <a:endParaRPr lang="en-US" sz="11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B6A7E957-7297-423E-C19D-DCA5729327B8}"/>
              </a:ext>
            </a:extLst>
          </p:cNvPr>
          <p:cNvSpPr/>
          <p:nvPr/>
        </p:nvSpPr>
        <p:spPr>
          <a:xfrm>
            <a:off x="612648" y="1188720"/>
            <a:ext cx="3621024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clip → 163-dimensional vector → StandardScaler → RandomForest classifier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formulas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 scale:  m = 2595 log10(1 + f/700)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Zero-crossing rate: counts sign changes in the waveform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 energy: square-root mean power of the signal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rolloff: frequency below which 85% of energy is contained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composition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MFCC mean + 40 MFCC std + 12 chroma + spectral / energy features.</a:t>
            </a:r>
            <a:endParaRPr lang="en-US" sz="11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D9FFA74B-DB3A-F416-0092-83CFF5C025D7}"/>
              </a:ext>
            </a:extLst>
          </p:cNvPr>
          <p:cNvSpPr/>
          <p:nvPr/>
        </p:nvSpPr>
        <p:spPr>
          <a:xfrm>
            <a:off x="4617720" y="914400"/>
            <a:ext cx="25603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04A46BE2-D3CC-7C75-7EE8-09AD0BE56E13}"/>
              </a:ext>
            </a:extLst>
          </p:cNvPr>
          <p:cNvSpPr/>
          <p:nvPr/>
        </p:nvSpPr>
        <p:spPr>
          <a:xfrm>
            <a:off x="4727448" y="98755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</a:t>
            </a:r>
            <a:endParaRPr lang="en-US" sz="11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512041E1-D23A-7313-E7F5-A35FEEFF0505}"/>
              </a:ext>
            </a:extLst>
          </p:cNvPr>
          <p:cNvSpPr/>
          <p:nvPr/>
        </p:nvSpPr>
        <p:spPr>
          <a:xfrm>
            <a:off x="4727448" y="1188720"/>
            <a:ext cx="234086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n_estimators = 300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max_depth = 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min_samples_split =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class_weight = balanced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80/20 train-test split</a:t>
            </a:r>
            <a:endParaRPr lang="en-US" sz="11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40C52418-EAFE-3F52-A4AB-2BBE569A76B4}"/>
              </a:ext>
            </a:extLst>
          </p:cNvPr>
          <p:cNvSpPr/>
          <p:nvPr/>
        </p:nvSpPr>
        <p:spPr>
          <a:xfrm>
            <a:off x="4617720" y="2880360"/>
            <a:ext cx="256032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5B61CA03-2F4A-D2F2-2D42-3FC2765041F4}"/>
              </a:ext>
            </a:extLst>
          </p:cNvPr>
          <p:cNvSpPr/>
          <p:nvPr/>
        </p:nvSpPr>
        <p:spPr>
          <a:xfrm>
            <a:off x="4727448" y="295351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6DB175DF-DB9A-908B-2132-DA89D136732C}"/>
              </a:ext>
            </a:extLst>
          </p:cNvPr>
          <p:cNvSpPr/>
          <p:nvPr/>
        </p:nvSpPr>
        <p:spPr>
          <a:xfrm>
            <a:off x="4727448" y="3154680"/>
            <a:ext cx="2340864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speech service turns raw signal behavior into stable interview-friendly categories.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remapping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neutral/calm → relaxed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→ happy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angry/disgust → stressed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fearful/sad → nervous</a:t>
            </a:r>
            <a:endParaRPr lang="en-US" sz="1100" dirty="0"/>
          </a:p>
        </p:txBody>
      </p:sp>
      <p:pic>
        <p:nvPicPr>
          <p:cNvPr id="34" name="Picture 33" descr="08_feature_vector.png">
            <a:extLst>
              <a:ext uri="{FF2B5EF4-FFF2-40B4-BE49-F238E27FC236}">
                <a16:creationId xmlns:a16="http://schemas.microsoft.com/office/drawing/2014/main" id="{9BC71A89-68C6-F80E-150F-A4027F196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846320"/>
            <a:ext cx="85039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992" y="315925"/>
            <a:ext cx="811580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80" dirty="0"/>
              <a:t>Body Language Analysis Service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82975" y="6633159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804" y="9271"/>
            <a:ext cx="91627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Body Language </a:t>
            </a:r>
            <a:r>
              <a:rPr lang="en-US" sz="1300" dirty="0" err="1">
                <a:solidFill>
                  <a:srgbClr val="FFFFFF"/>
                </a:solidFill>
                <a:latin typeface="Calibri"/>
                <a:cs typeface="Calibri"/>
              </a:rPr>
              <a:t>Analaysis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 Service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CA375CB2-0517-DDBF-6672-CE67D4359E10}"/>
              </a:ext>
            </a:extLst>
          </p:cNvPr>
          <p:cNvSpPr/>
          <p:nvPr/>
        </p:nvSpPr>
        <p:spPr>
          <a:xfrm>
            <a:off x="502920" y="1127760"/>
            <a:ext cx="3840480" cy="38862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8EB6E8E3-F6FD-2CA9-F0CF-213878B52649}"/>
              </a:ext>
            </a:extLst>
          </p:cNvPr>
          <p:cNvSpPr/>
          <p:nvPr/>
        </p:nvSpPr>
        <p:spPr>
          <a:xfrm>
            <a:off x="612648" y="1200912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Heuristics and scoring</a:t>
            </a:r>
            <a:endParaRPr lang="en-US" sz="11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E13E0A28-63EE-CE01-5E45-2F156306B544}"/>
              </a:ext>
            </a:extLst>
          </p:cNvPr>
          <p:cNvSpPr/>
          <p:nvPr/>
        </p:nvSpPr>
        <p:spPr>
          <a:xfrm>
            <a:off x="612648" y="1402080"/>
            <a:ext cx="3621024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landmarks are converted into posture, eye contact, gestures, and a composite body-language score.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detection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mean(shoulders_x) − mean(hips_x) | &gt; 0.12  → leaning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Shoulder symmetry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y_LS − y_RS | &gt; 0.05  → slouching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contact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 ≤ nose_x ≤ 0.6 and 0.3 ≤ nose_y ≤ 0.7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× (confidence/100) × 0.6 + base × 0.4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+ 8 if eye contact + 7 if posture = good + 3 if gesturing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at 100</a:t>
            </a:r>
            <a:endParaRPr lang="en-US" sz="11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401AC7DF-A16A-C38E-EFA4-EACA4E5F8281}"/>
              </a:ext>
            </a:extLst>
          </p:cNvPr>
          <p:cNvSpPr/>
          <p:nvPr/>
        </p:nvSpPr>
        <p:spPr>
          <a:xfrm>
            <a:off x="4572000" y="1127760"/>
            <a:ext cx="265176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52FCD4E-65F5-40CB-C48E-A85AE8CF56DA}"/>
              </a:ext>
            </a:extLst>
          </p:cNvPr>
          <p:cNvSpPr/>
          <p:nvPr/>
        </p:nvSpPr>
        <p:spPr>
          <a:xfrm>
            <a:off x="4681728" y="120091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setup</a:t>
            </a:r>
            <a:endParaRPr lang="en-US" sz="11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043C98C3-8766-D6E3-017B-4195A9F071BB}"/>
              </a:ext>
            </a:extLst>
          </p:cNvPr>
          <p:cNvSpPr/>
          <p:nvPr/>
        </p:nvSpPr>
        <p:spPr>
          <a:xfrm>
            <a:off x="4681728" y="1402080"/>
            <a:ext cx="243230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n_estimators = 500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max_depth = 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min_samples_split =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class_weight = balanced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80/20 split</a:t>
            </a:r>
            <a:endParaRPr lang="en-US" sz="11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E53087BE-3407-0294-B926-E1E20BBA59D8}"/>
              </a:ext>
            </a:extLst>
          </p:cNvPr>
          <p:cNvSpPr/>
          <p:nvPr/>
        </p:nvSpPr>
        <p:spPr>
          <a:xfrm>
            <a:off x="4572000" y="3048000"/>
            <a:ext cx="265176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D02D0EA-6CED-C9E7-F3DC-AD341CBB9AB0}"/>
              </a:ext>
            </a:extLst>
          </p:cNvPr>
          <p:cNvSpPr/>
          <p:nvPr/>
        </p:nvSpPr>
        <p:spPr>
          <a:xfrm>
            <a:off x="4681728" y="312115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mapping</a:t>
            </a:r>
            <a:endParaRPr lang="en-US" sz="11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CA61E776-F0AF-91E7-35D4-77A3E4ABE8BE}"/>
              </a:ext>
            </a:extLst>
          </p:cNvPr>
          <p:cNvSpPr/>
          <p:nvPr/>
        </p:nvSpPr>
        <p:spPr>
          <a:xfrm>
            <a:off x="4681728" y="3322320"/>
            <a:ext cx="243230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scores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90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Enthusiastic 88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Surprised 70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Confused 55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Nervous 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Stressed 40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Disengaged 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keeps the output explainable and decomposable by factor.</a:t>
            </a:r>
            <a:endParaRPr lang="en-US" sz="1100" dirty="0"/>
          </a:p>
        </p:txBody>
      </p:sp>
      <p:pic>
        <p:nvPicPr>
          <p:cNvPr id="29" name="Picture 28" descr="09_body_language.png">
            <a:extLst>
              <a:ext uri="{FF2B5EF4-FFF2-40B4-BE49-F238E27FC236}">
                <a16:creationId xmlns:a16="http://schemas.microsoft.com/office/drawing/2014/main" id="{288FC527-A8B9-8FF9-2B1C-F0B7223E9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105400"/>
            <a:ext cx="850392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/>
              <a:t>Competency Scoring and Hiring Logic</a:t>
            </a:r>
            <a:endParaRPr spc="-9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82974" y="6647180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 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04" y="9271"/>
            <a:ext cx="306679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Competency Scoring and Hiring Logic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2691" y="9271"/>
            <a:ext cx="4282567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65DD9D7F-D85E-C06D-BC4E-CB9ABA570274}"/>
              </a:ext>
            </a:extLst>
          </p:cNvPr>
          <p:cNvSpPr/>
          <p:nvPr/>
        </p:nvSpPr>
        <p:spPr>
          <a:xfrm>
            <a:off x="545337" y="993265"/>
            <a:ext cx="3977640" cy="3886200"/>
          </a:xfrm>
          <a:prstGeom prst="roundRect">
            <a:avLst>
              <a:gd name="adj" fmla="val 941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B1666B2C-44BE-628C-BAEA-E65136185C15}"/>
              </a:ext>
            </a:extLst>
          </p:cNvPr>
          <p:cNvSpPr/>
          <p:nvPr/>
        </p:nvSpPr>
        <p:spPr>
          <a:xfrm>
            <a:off x="655065" y="1066417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competency rubric</a:t>
            </a:r>
            <a:endParaRPr lang="en-US" sz="12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710F4BF-FCB3-9AF6-6ED0-785A595A4270}"/>
              </a:ext>
            </a:extLst>
          </p:cNvPr>
          <p:cNvSpPr/>
          <p:nvPr/>
        </p:nvSpPr>
        <p:spPr>
          <a:xfrm>
            <a:off x="655065" y="1267585"/>
            <a:ext cx="3758184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 = 0.25 × Communication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+ 0.30 × Problem Solving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+ 0.25 × Relevance &amp; Role Fit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+ 0.20 × Evidence Quality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 75, 85, 70 → 77.75 ≈ 78/100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85–100  Expert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70–84   Proficient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50–69   Developing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0–49    Novice</a:t>
            </a:r>
            <a:endParaRPr lang="en-US" sz="12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2FBA566B-9A7C-9183-45C3-BBC8AEB9F814}"/>
              </a:ext>
            </a:extLst>
          </p:cNvPr>
          <p:cNvSpPr/>
          <p:nvPr/>
        </p:nvSpPr>
        <p:spPr>
          <a:xfrm>
            <a:off x="4705857" y="993265"/>
            <a:ext cx="347472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2269490-D12C-77C3-F7CC-56A3D0372A08}"/>
              </a:ext>
            </a:extLst>
          </p:cNvPr>
          <p:cNvSpPr/>
          <p:nvPr/>
        </p:nvSpPr>
        <p:spPr>
          <a:xfrm>
            <a:off x="4815585" y="1066417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rules</a:t>
            </a:r>
            <a:endParaRPr lang="en-US" sz="12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5B38FFCA-FC58-252B-07B9-151CFC3BD5AF}"/>
              </a:ext>
            </a:extLst>
          </p:cNvPr>
          <p:cNvSpPr/>
          <p:nvPr/>
        </p:nvSpPr>
        <p:spPr>
          <a:xfrm>
            <a:off x="4815585" y="1267585"/>
            <a:ext cx="3255264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≥ 85 and no novice competency → Strong Yes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≥ 70 and no novice competency → Yes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≥ 50 → Maybe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→ No</a:t>
            </a:r>
            <a:endParaRPr lang="en-US" sz="12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682EFA6E-30F2-5242-43A6-132045A36D57}"/>
              </a:ext>
            </a:extLst>
          </p:cNvPr>
          <p:cNvSpPr/>
          <p:nvPr/>
        </p:nvSpPr>
        <p:spPr>
          <a:xfrm>
            <a:off x="4705857" y="2867785"/>
            <a:ext cx="347472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998F1EE7-BC2E-45B0-2200-570A839D8F43}"/>
              </a:ext>
            </a:extLst>
          </p:cNvPr>
          <p:cNvSpPr/>
          <p:nvPr/>
        </p:nvSpPr>
        <p:spPr>
          <a:xfrm>
            <a:off x="4815585" y="2940937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safer</a:t>
            </a:r>
            <a:endParaRPr lang="en-US" sz="12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FBC22BE9-FD2C-3A34-8930-714F25CB8B5E}"/>
              </a:ext>
            </a:extLst>
          </p:cNvPr>
          <p:cNvSpPr/>
          <p:nvPr/>
        </p:nvSpPr>
        <p:spPr>
          <a:xfrm>
            <a:off x="4815585" y="3142105"/>
            <a:ext cx="3255264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 average is not enough if one competency remains weak.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recommendation is advisory only and can be overridden by a human reviewer.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uses lower temperature prompts for reproducibility.</a:t>
            </a:r>
            <a:endParaRPr lang="en-US" sz="1200" dirty="0"/>
          </a:p>
        </p:txBody>
      </p:sp>
      <p:pic>
        <p:nvPicPr>
          <p:cNvPr id="29" name="Picture 28" descr="10_competency.png">
            <a:extLst>
              <a:ext uri="{FF2B5EF4-FFF2-40B4-BE49-F238E27FC236}">
                <a16:creationId xmlns:a16="http://schemas.microsoft.com/office/drawing/2014/main" id="{63AB1398-4770-61C8-9B4A-9B21A42E2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7" y="4983480"/>
            <a:ext cx="85039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8233" y="526204"/>
            <a:ext cx="94112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75" dirty="0"/>
              <a:t>APIs, Database Schema, and Storage Design</a:t>
            </a:r>
            <a:endParaRPr sz="4000" spc="-7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82975" y="6639560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03" y="9271"/>
            <a:ext cx="4313173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400" spc="-75" dirty="0">
                <a:solidFill>
                  <a:schemeClr val="bg1"/>
                </a:solidFill>
              </a:rPr>
              <a:t>APIs, Database Schema, and Storage Design</a:t>
            </a:r>
            <a:endParaRPr sz="13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2692" y="9271"/>
            <a:ext cx="4313172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8FBEB032-821A-61CC-C3B3-B593689CB7C5}"/>
              </a:ext>
            </a:extLst>
          </p:cNvPr>
          <p:cNvSpPr/>
          <p:nvPr/>
        </p:nvSpPr>
        <p:spPr>
          <a:xfrm>
            <a:off x="561847" y="1295400"/>
            <a:ext cx="3566160" cy="384048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B1F380B-78BE-5738-7411-28070E454AAB}"/>
              </a:ext>
            </a:extLst>
          </p:cNvPr>
          <p:cNvSpPr/>
          <p:nvPr/>
        </p:nvSpPr>
        <p:spPr>
          <a:xfrm>
            <a:off x="671575" y="1368552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and internal APIs</a:t>
            </a:r>
            <a:endParaRPr lang="en-US" sz="1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AFAFDA0-7F48-DD04-F641-480EC2E58671}"/>
              </a:ext>
            </a:extLst>
          </p:cNvPr>
          <p:cNvSpPr/>
          <p:nvPr/>
        </p:nvSpPr>
        <p:spPr>
          <a:xfrm>
            <a:off x="671575" y="1569720"/>
            <a:ext cx="3346704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GPT-4o-mini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Interview conduction, answer evaluation, feedback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O*NET Web Services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Role-specific competencies, skills, and knowledge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+ Supabase APIs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Login, CRUD, and storage access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FastAPI sidecars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Speech emotion prediction (:8000)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Body-language prediction (:8001)</a:t>
            </a:r>
            <a:endParaRPr lang="en-US" sz="84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CFD5698-F8BE-BAB8-3683-2A8B2CBDCBDA}"/>
              </a:ext>
            </a:extLst>
          </p:cNvPr>
          <p:cNvSpPr/>
          <p:nvPr/>
        </p:nvSpPr>
        <p:spPr>
          <a:xfrm>
            <a:off x="4402327" y="1295400"/>
            <a:ext cx="3611880" cy="3840480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B559A76-C890-BC9D-13ED-CCE6DC22EF1E}"/>
              </a:ext>
            </a:extLst>
          </p:cNvPr>
          <p:cNvSpPr/>
          <p:nvPr/>
        </p:nvSpPr>
        <p:spPr>
          <a:xfrm>
            <a:off x="4512055" y="1368552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and security design</a:t>
            </a:r>
            <a:endParaRPr lang="en-US" sz="10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F4F7C2F-F4D2-DDA6-ED1F-E5AEA4BD092E}"/>
              </a:ext>
            </a:extLst>
          </p:cNvPr>
          <p:cNvSpPr/>
          <p:nvPr/>
        </p:nvSpPr>
        <p:spPr>
          <a:xfrm>
            <a:off x="4512055" y="1569720"/>
            <a:ext cx="3392424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→ id, email,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→ position, status, score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→ scheduled_at, score, ai_insights, recording_url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→ strengths, improvements, recommendation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JSONB for flexible AI output storage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UUID primary keys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Row-Level Security for isolation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Signed URLs for recordings</a:t>
            </a:r>
            <a:endParaRPr lang="en-US" sz="84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6F3187-4B74-6D69-AE41-80D710155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4" y="3672524"/>
            <a:ext cx="1904415" cy="29376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40EADB-EAFB-2FD2-B884-F38EE47A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699" y="3672524"/>
            <a:ext cx="1884679" cy="29376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D0E10E-93A6-CBDF-199F-57A4862EE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378" y="3663268"/>
            <a:ext cx="2124075" cy="29544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D1285C9-B846-8555-AD54-352BF8333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453" y="3663268"/>
            <a:ext cx="1648918" cy="29452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A7100C1-2AAF-4810-4A5F-917A546051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1371" y="3664998"/>
            <a:ext cx="1579422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991" y="236346"/>
            <a:ext cx="891400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/>
              <a:t>Explainability and EU AI Act Aligned Design</a:t>
            </a:r>
            <a:endParaRPr sz="4000" spc="5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2974" y="666572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04" y="9271"/>
            <a:ext cx="89341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Explainability and EU AI Act Aligned Design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B9EA51C7-CFB1-DE79-4055-845C8F53BE27}"/>
              </a:ext>
            </a:extLst>
          </p:cNvPr>
          <p:cNvSpPr txBox="1"/>
          <p:nvPr/>
        </p:nvSpPr>
        <p:spPr>
          <a:xfrm>
            <a:off x="475463" y="1041111"/>
            <a:ext cx="8585835" cy="5709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080" indent="-230504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/>
              <a:t>Non-verbal signals must not become hidden automatic rejection criteria.	</a:t>
            </a:r>
            <a:endParaRPr lang="en-US" dirty="0">
              <a:latin typeface="Calibri"/>
              <a:cs typeface="Calibri"/>
            </a:endParaRPr>
          </a:p>
          <a:p>
            <a:pPr marL="242570" marR="5080" indent="-230504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/>
              <a:t>Face and emotion data are displayed only and are not used in final hiring scores.	</a:t>
            </a:r>
          </a:p>
          <a:p>
            <a:pPr marL="242570" marR="5080" indent="-230504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/>
              <a:t>Scoring is based on transcript content and transparent competency formulas.	</a:t>
            </a:r>
            <a:endParaRPr dirty="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246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/>
              <a:t>Human review and override remain mandatory.</a:t>
            </a:r>
            <a:endParaRPr dirty="0">
              <a:latin typeface="Calibri"/>
              <a:cs typeface="Calibri"/>
            </a:endParaRPr>
          </a:p>
          <a:p>
            <a:pPr marL="242570" marR="524510" indent="-230504">
              <a:lnSpc>
                <a:spcPct val="140000"/>
              </a:lnSpc>
              <a:spcBef>
                <a:spcPts val="141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/>
              <a:t>Every AI event, export, and manual override is logged.</a:t>
            </a:r>
            <a:endParaRPr lang="en-US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242570" marR="524510" indent="-230504">
              <a:lnSpc>
                <a:spcPct val="140000"/>
              </a:lnSpc>
              <a:spcBef>
                <a:spcPts val="141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/>
              <a:t>The platform supports recommendation, evidence review, and governance.</a:t>
            </a:r>
          </a:p>
          <a:p>
            <a:pPr marL="242570" marR="524510" indent="-230504">
              <a:lnSpc>
                <a:spcPct val="140000"/>
              </a:lnSpc>
              <a:spcBef>
                <a:spcPts val="141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/>
              <a:t>Multimodal signals are used for context, coaching, research telemetry, and auditable summaries.</a:t>
            </a:r>
          </a:p>
          <a:p>
            <a:pPr marL="242570" marR="524510" indent="-230504">
              <a:lnSpc>
                <a:spcPct val="140000"/>
              </a:lnSpc>
              <a:spcBef>
                <a:spcPts val="141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/>
              <a:t>The system is designed to remain explainable, reviewable, and </a:t>
            </a:r>
            <a:r>
              <a:rPr lang="en-US" dirty="0" err="1"/>
              <a:t>overrideable</a:t>
            </a:r>
            <a:r>
              <a:rPr lang="en-US" dirty="0"/>
              <a:t>. </a:t>
            </a:r>
            <a:endParaRPr lang="en-US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242570" marR="524510" indent="-230504">
              <a:lnSpc>
                <a:spcPct val="140000"/>
              </a:lnSpc>
              <a:spcBef>
                <a:spcPts val="141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3025C-8A7B-B0E8-1ACA-096875B76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2FAE1B6-6EC0-B26D-DAAB-A052C9077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991" y="236346"/>
            <a:ext cx="891400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000" b="1" dirty="0"/>
              <a:t>Regulatory, Ethical, and Economic Context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2111960-F58D-E67E-F4A5-6A5F830918A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ED73755-6097-4057-D29F-34499F5C922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80706DC-A25D-EFD5-CD20-9DE78D80E21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EC1316A-56B1-BC66-5E61-88781E8FFE59}"/>
              </a:ext>
            </a:extLst>
          </p:cNvPr>
          <p:cNvSpPr txBox="1"/>
          <p:nvPr/>
        </p:nvSpPr>
        <p:spPr>
          <a:xfrm>
            <a:off x="3482974" y="666572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3E8BBD-7B8A-C45D-833A-DB54CA4F5639}"/>
              </a:ext>
            </a:extLst>
          </p:cNvPr>
          <p:cNvSpPr txBox="1"/>
          <p:nvPr/>
        </p:nvSpPr>
        <p:spPr>
          <a:xfrm>
            <a:off x="209804" y="9271"/>
            <a:ext cx="8934196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Explainability and EU AI Act Aligned Design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AC093DF-7A99-2CBC-71FD-7A72624E91AD}"/>
              </a:ext>
            </a:extLst>
          </p:cNvPr>
          <p:cNvSpPr txBox="1"/>
          <p:nvPr/>
        </p:nvSpPr>
        <p:spPr>
          <a:xfrm>
            <a:off x="279081" y="990600"/>
            <a:ext cx="8585835" cy="5552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6" marR="5080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tabLst>
                <a:tab pos="242570" algn="l"/>
              </a:tabLst>
            </a:pPr>
            <a:r>
              <a:rPr lang="en-US" dirty="0"/>
              <a:t>AI recruitment systems are important because they affect both:</a:t>
            </a:r>
          </a:p>
          <a:p>
            <a:pPr marL="242570" marR="5080" indent="-230504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b="1" dirty="0"/>
              <a:t>business productivity</a:t>
            </a:r>
            <a:r>
              <a:rPr lang="en-US" dirty="0"/>
              <a:t>, by reducing manual review time and supporting more structured candidate evaluation.	</a:t>
            </a:r>
            <a:endParaRPr lang="en-US" dirty="0">
              <a:latin typeface="Calibri"/>
              <a:cs typeface="Calibri"/>
            </a:endParaRPr>
          </a:p>
          <a:p>
            <a:pPr marL="242570" marR="5080" indent="-230504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b="1" dirty="0"/>
              <a:t>individual opportunities</a:t>
            </a:r>
            <a:r>
              <a:rPr lang="en-US" dirty="0"/>
              <a:t>, because hiring decisions affect access to employment. Under the EU AI Act, recruitment-related AI requires careful attention to:	</a:t>
            </a:r>
          </a:p>
          <a:p>
            <a:pPr marL="12066" marR="5080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tabLst>
                <a:tab pos="242570" algn="l"/>
              </a:tabLst>
            </a:pPr>
            <a:r>
              <a:rPr lang="en-US" dirty="0"/>
              <a:t>Scoring is based on transcript content and transparent competency formulas.	</a:t>
            </a:r>
          </a:p>
          <a:p>
            <a:pPr marL="242570" marR="5080" indent="-230504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>
                <a:latin typeface="Calibri"/>
                <a:cs typeface="Calibri"/>
              </a:rPr>
              <a:t>transparency human oversight fairness and bias control auditability data protection accountability</a:t>
            </a:r>
          </a:p>
          <a:p>
            <a:pPr marL="12066" marR="5080">
              <a:lnSpc>
                <a:spcPct val="140100"/>
              </a:lnSpc>
              <a:spcBef>
                <a:spcPts val="1390"/>
              </a:spcBef>
              <a:buClr>
                <a:srgbClr val="1CACE3"/>
              </a:buClr>
              <a:tabLst>
                <a:tab pos="242570" algn="l"/>
              </a:tabLst>
            </a:pPr>
            <a:r>
              <a:rPr lang="en-US" dirty="0"/>
              <a:t>Design response in this project</a:t>
            </a:r>
            <a:endParaRPr dirty="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2460"/>
              </a:spcBef>
              <a:buClr>
                <a:srgbClr val="1CACE3"/>
              </a:buClr>
              <a:buFont typeface="Arial MT"/>
              <a:buChar char="•"/>
              <a:tabLst>
                <a:tab pos="242570" algn="l"/>
              </a:tabLst>
            </a:pPr>
            <a:r>
              <a:rPr lang="en-US" dirty="0"/>
              <a:t>keeping recommendations advisory, requiring human review and override, logging AI outputs and reviewer actions, using transparent competency-based scoring, keeping non-verbal indicators separate from final hiring decisions.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965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9992" y="341121"/>
            <a:ext cx="9258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/>
              <a:t>Illustrative Session Output and Results</a:t>
            </a:r>
            <a:endParaRPr sz="40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804" y="9271"/>
            <a:ext cx="2990596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dirty="0">
                <a:solidFill>
                  <a:schemeClr val="bg1"/>
                </a:solidFill>
                <a:latin typeface="Calibri"/>
                <a:cs typeface="Calibri"/>
              </a:rPr>
              <a:t>Illustrative Session Output and Results</a:t>
            </a:r>
            <a:endParaRPr sz="13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xfrm>
            <a:off x="4782692" y="9271"/>
            <a:ext cx="381127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Multimodal AI-Based Recruitment Evaluation System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82975" y="663691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A02651DD-12EC-D869-7034-0EB9EB19B64C}"/>
              </a:ext>
            </a:extLst>
          </p:cNvPr>
          <p:cNvSpPr/>
          <p:nvPr/>
        </p:nvSpPr>
        <p:spPr>
          <a:xfrm>
            <a:off x="685800" y="914400"/>
            <a:ext cx="3749040" cy="379476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AF3CC1FE-8D67-ED23-BFD2-F8D171FE1010}"/>
              </a:ext>
            </a:extLst>
          </p:cNvPr>
          <p:cNvSpPr/>
          <p:nvPr/>
        </p:nvSpPr>
        <p:spPr>
          <a:xfrm>
            <a:off x="795528" y="987552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interview workspace</a:t>
            </a:r>
            <a:endParaRPr lang="en-US" sz="12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A5B0540-A0DC-4368-241F-4E0173758261}"/>
              </a:ext>
            </a:extLst>
          </p:cNvPr>
          <p:cNvSpPr/>
          <p:nvPr/>
        </p:nvSpPr>
        <p:spPr>
          <a:xfrm>
            <a:off x="795528" y="1188720"/>
            <a:ext cx="3529584" cy="5166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video feed with landmarks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panel: happy 82%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language: confident 88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snippet: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 my internship, I redesigned the API workflow, reduced response time by 35%, and coordinated testing with two teammates before release.”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focus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 fusion, not just text scoring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interpretable rules and thresholds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role-specific criteria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audit trail</a:t>
            </a:r>
          </a:p>
          <a:p>
            <a:pPr marL="0" indent="0">
              <a:buNone/>
            </a:pPr>
            <a:endParaRPr lang="en-US" sz="1400" dirty="0">
              <a:solidFill>
                <a:srgbClr val="2222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222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b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Criteria: Explainability, Consistency, Auditability, Human Oversight, Multimodal Utility, Ethical Safety</a:t>
            </a:r>
          </a:p>
          <a:p>
            <a:pPr marL="0" indent="0">
              <a:buNone/>
            </a:pPr>
            <a:endParaRPr lang="en-US" sz="14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CF34FB19-3785-74A8-5710-6FEDA64C279C}"/>
              </a:ext>
            </a:extLst>
          </p:cNvPr>
          <p:cNvSpPr/>
          <p:nvPr/>
        </p:nvSpPr>
        <p:spPr>
          <a:xfrm>
            <a:off x="4709160" y="960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Answer evaluation</a:t>
            </a:r>
            <a:endParaRPr lang="en-US" sz="12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BED36400-48F7-9725-DA0A-D128D548BF21}"/>
              </a:ext>
            </a:extLst>
          </p:cNvPr>
          <p:cNvSpPr/>
          <p:nvPr/>
        </p:nvSpPr>
        <p:spPr>
          <a:xfrm>
            <a:off x="4663440" y="13258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Communication</a:t>
            </a:r>
            <a:endParaRPr lang="en-US" sz="12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A4FA14A7-F926-D6BC-336B-B560B274852C}"/>
              </a:ext>
            </a:extLst>
          </p:cNvPr>
          <p:cNvSpPr/>
          <p:nvPr/>
        </p:nvSpPr>
        <p:spPr>
          <a:xfrm>
            <a:off x="5989320" y="1353312"/>
            <a:ext cx="1508760" cy="109728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F0263176-B93E-81AB-5ADD-6282474CB944}"/>
              </a:ext>
            </a:extLst>
          </p:cNvPr>
          <p:cNvSpPr/>
          <p:nvPr/>
        </p:nvSpPr>
        <p:spPr>
          <a:xfrm>
            <a:off x="5989320" y="1353312"/>
            <a:ext cx="1207008" cy="10972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9D7DEC22-6924-7615-48D5-B17674E619B3}"/>
              </a:ext>
            </a:extLst>
          </p:cNvPr>
          <p:cNvSpPr/>
          <p:nvPr/>
        </p:nvSpPr>
        <p:spPr>
          <a:xfrm>
            <a:off x="7589520" y="13075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</a:rPr>
              <a:t>80</a:t>
            </a:r>
            <a:endParaRPr lang="en-US" sz="12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7953E03F-305E-773C-FA47-B17E5DE2ED6A}"/>
              </a:ext>
            </a:extLst>
          </p:cNvPr>
          <p:cNvSpPr/>
          <p:nvPr/>
        </p:nvSpPr>
        <p:spPr>
          <a:xfrm>
            <a:off x="4663440" y="18288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Problem Solving</a:t>
            </a:r>
            <a:endParaRPr lang="en-US" sz="12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8E8A1383-9EFF-6E80-779D-89387A34FD8A}"/>
              </a:ext>
            </a:extLst>
          </p:cNvPr>
          <p:cNvSpPr/>
          <p:nvPr/>
        </p:nvSpPr>
        <p:spPr>
          <a:xfrm>
            <a:off x="5989320" y="1856232"/>
            <a:ext cx="1508760" cy="109728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32EEF186-BC1D-0674-6A10-377C017C99DB}"/>
              </a:ext>
            </a:extLst>
          </p:cNvPr>
          <p:cNvSpPr/>
          <p:nvPr/>
        </p:nvSpPr>
        <p:spPr>
          <a:xfrm>
            <a:off x="5989320" y="1856232"/>
            <a:ext cx="1131570" cy="1097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EE51C3B6-D0EC-BC4A-C17A-239A439F5469}"/>
              </a:ext>
            </a:extLst>
          </p:cNvPr>
          <p:cNvSpPr/>
          <p:nvPr/>
        </p:nvSpPr>
        <p:spPr>
          <a:xfrm>
            <a:off x="7589520" y="18105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</a:rPr>
              <a:t>75</a:t>
            </a:r>
            <a:endParaRPr lang="en-US" sz="12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8B1AE415-B9AF-2090-3D23-B74D95B414D6}"/>
              </a:ext>
            </a:extLst>
          </p:cNvPr>
          <p:cNvSpPr/>
          <p:nvPr/>
        </p:nvSpPr>
        <p:spPr>
          <a:xfrm>
            <a:off x="4663440" y="23317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Role Fit</a:t>
            </a:r>
            <a:endParaRPr lang="en-US" sz="12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0B0527F5-4D66-6E02-92E7-C08A76CEC7FD}"/>
              </a:ext>
            </a:extLst>
          </p:cNvPr>
          <p:cNvSpPr/>
          <p:nvPr/>
        </p:nvSpPr>
        <p:spPr>
          <a:xfrm>
            <a:off x="5989320" y="2359152"/>
            <a:ext cx="1508760" cy="109728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DE6CCD9E-ABFB-5B6E-86D6-6C7132BF3954}"/>
              </a:ext>
            </a:extLst>
          </p:cNvPr>
          <p:cNvSpPr/>
          <p:nvPr/>
        </p:nvSpPr>
        <p:spPr>
          <a:xfrm>
            <a:off x="5989320" y="2359152"/>
            <a:ext cx="1282446" cy="10972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82805414-84A0-1852-EDCC-2B0AF9F7CBC1}"/>
              </a:ext>
            </a:extLst>
          </p:cNvPr>
          <p:cNvSpPr/>
          <p:nvPr/>
        </p:nvSpPr>
        <p:spPr>
          <a:xfrm>
            <a:off x="7589520" y="23134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</a:rPr>
              <a:t>85</a:t>
            </a:r>
            <a:endParaRPr lang="en-US" sz="12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7105F6AC-3F8C-0F0D-9898-F87A1A4C6A37}"/>
              </a:ext>
            </a:extLst>
          </p:cNvPr>
          <p:cNvSpPr/>
          <p:nvPr/>
        </p:nvSpPr>
        <p:spPr>
          <a:xfrm>
            <a:off x="4663440" y="283464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Evidence</a:t>
            </a:r>
            <a:endParaRPr lang="en-US" sz="1200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6571EA05-61B6-46AA-7527-BBB63617A0CE}"/>
              </a:ext>
            </a:extLst>
          </p:cNvPr>
          <p:cNvSpPr/>
          <p:nvPr/>
        </p:nvSpPr>
        <p:spPr>
          <a:xfrm>
            <a:off x="5989320" y="2862072"/>
            <a:ext cx="1508760" cy="109728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C1C7385B-8E4A-C8A5-E6F0-8CFBCABA0BD5}"/>
              </a:ext>
            </a:extLst>
          </p:cNvPr>
          <p:cNvSpPr/>
          <p:nvPr/>
        </p:nvSpPr>
        <p:spPr>
          <a:xfrm>
            <a:off x="5989320" y="2862072"/>
            <a:ext cx="1056132" cy="10972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9B1E1184-6984-D386-124A-59CBF8F2BBA6}"/>
              </a:ext>
            </a:extLst>
          </p:cNvPr>
          <p:cNvSpPr/>
          <p:nvPr/>
        </p:nvSpPr>
        <p:spPr>
          <a:xfrm>
            <a:off x="7589520" y="28163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</a:rPr>
              <a:t>70</a:t>
            </a:r>
            <a:endParaRPr lang="en-US" sz="1200" dirty="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A03816B2-F852-CD4B-F822-F86C2A1475B6}"/>
              </a:ext>
            </a:extLst>
          </p:cNvPr>
          <p:cNvSpPr/>
          <p:nvPr/>
        </p:nvSpPr>
        <p:spPr>
          <a:xfrm>
            <a:off x="4663440" y="3291840"/>
            <a:ext cx="31546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F25EB916-6EEE-5E58-DAB8-F50B8B164633}"/>
              </a:ext>
            </a:extLst>
          </p:cNvPr>
          <p:cNvSpPr/>
          <p:nvPr/>
        </p:nvSpPr>
        <p:spPr>
          <a:xfrm>
            <a:off x="4773168" y="3364992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recommendation</a:t>
            </a:r>
            <a:endParaRPr lang="en-US" sz="1200" dirty="0"/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E75AE559-E147-6092-B359-66CB719F3CA3}"/>
              </a:ext>
            </a:extLst>
          </p:cNvPr>
          <p:cNvSpPr/>
          <p:nvPr/>
        </p:nvSpPr>
        <p:spPr>
          <a:xfrm>
            <a:off x="4773168" y="3566160"/>
            <a:ext cx="293522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78/100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Yes / Strong candidate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reviewer can confirm or override before export.</a:t>
            </a:r>
            <a:endParaRPr lang="en-US" sz="1200" dirty="0"/>
          </a:p>
        </p:txBody>
      </p:sp>
      <p:pic>
        <p:nvPicPr>
          <p:cNvPr id="43" name="Picture 42" descr="14_results.png">
            <a:extLst>
              <a:ext uri="{FF2B5EF4-FFF2-40B4-BE49-F238E27FC236}">
                <a16:creationId xmlns:a16="http://schemas.microsoft.com/office/drawing/2014/main" id="{A42F1573-3BF1-4578-477B-70058CA00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4526280"/>
            <a:ext cx="32461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339978"/>
            <a:ext cx="2830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Conclusions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82975" y="6685118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78130" y="1317739"/>
            <a:ext cx="8477885" cy="40402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>
              <a:spcBef>
                <a:spcPts val="105"/>
              </a:spcBef>
              <a:buClr>
                <a:srgbClr val="1CACE3"/>
              </a:buClr>
              <a:tabLst>
                <a:tab pos="372110" algn="l"/>
              </a:tabLst>
            </a:pPr>
            <a:r>
              <a:rPr lang="en-US" sz="1800" dirty="0"/>
              <a:t>This research shows that a multimodal AI recruitment system can support fairer and more consistent interview assessment by combining transcript, speech, and body-language analysis into a structured workflow, while explainable scoring, audit logs, and mandatory human override keep the final hiring decision under human control.</a:t>
            </a:r>
            <a:endParaRPr lang="en-US" dirty="0"/>
          </a:p>
          <a:p>
            <a:pPr marL="12065" marR="5080">
              <a:lnSpc>
                <a:spcPct val="100000"/>
              </a:lnSpc>
              <a:spcBef>
                <a:spcPts val="105"/>
              </a:spcBef>
              <a:buClr>
                <a:srgbClr val="1CACE3"/>
              </a:buClr>
              <a:tabLst>
                <a:tab pos="372110" algn="l"/>
              </a:tabLst>
            </a:pPr>
            <a:endParaRPr lang="en-US" dirty="0"/>
          </a:p>
          <a:p>
            <a:pPr marL="372110" marR="5080" indent="-360045">
              <a:lnSpc>
                <a:spcPct val="100000"/>
              </a:lnSpc>
              <a:spcBef>
                <a:spcPts val="105"/>
              </a:spcBef>
              <a:buClr>
                <a:srgbClr val="1CACE3"/>
              </a:buClr>
              <a:buAutoNum type="arabicPeriod"/>
              <a:tabLst>
                <a:tab pos="372110" algn="l"/>
              </a:tabLst>
            </a:pPr>
            <a:r>
              <a:rPr lang="en-US" dirty="0"/>
              <a:t>The system combines browser sensing, custom ML services, LLM scoring, and occupational knowledge lookup in one workflow.</a:t>
            </a:r>
            <a:endParaRPr spc="-10" dirty="0"/>
          </a:p>
          <a:p>
            <a:pPr marL="372110" indent="-359410">
              <a:lnSpc>
                <a:spcPct val="100000"/>
              </a:lnSpc>
              <a:spcBef>
                <a:spcPts val="1390"/>
              </a:spcBef>
              <a:buClr>
                <a:srgbClr val="1CACE3"/>
              </a:buClr>
              <a:buAutoNum type="arabicPeriod"/>
              <a:tabLst>
                <a:tab pos="372110" algn="l"/>
              </a:tabLst>
            </a:pPr>
            <a:r>
              <a:rPr lang="en-US" dirty="0"/>
              <a:t>It defines explicit mathematical rules for body-language scoring and competency aggregation.</a:t>
            </a:r>
          </a:p>
          <a:p>
            <a:pPr marL="372110" marR="101600" indent="-360045">
              <a:lnSpc>
                <a:spcPct val="100000"/>
              </a:lnSpc>
              <a:spcBef>
                <a:spcPts val="1410"/>
              </a:spcBef>
              <a:buClr>
                <a:srgbClr val="1CACE3"/>
              </a:buClr>
              <a:buAutoNum type="arabicPeriod" startAt="4"/>
              <a:tabLst>
                <a:tab pos="372110" algn="l"/>
              </a:tabLst>
            </a:pPr>
            <a:r>
              <a:rPr lang="en-US" dirty="0"/>
              <a:t>Audit logging, human override, and explainable exports support transparent decision-making.</a:t>
            </a:r>
          </a:p>
          <a:p>
            <a:pPr marL="372110" indent="-359410">
              <a:lnSpc>
                <a:spcPct val="100000"/>
              </a:lnSpc>
              <a:spcBef>
                <a:spcPts val="1390"/>
              </a:spcBef>
              <a:buClr>
                <a:srgbClr val="1CACE3"/>
              </a:buClr>
              <a:buAutoNum type="arabicPeriod" startAt="4"/>
              <a:tabLst>
                <a:tab pos="372110" algn="l"/>
              </a:tabLst>
            </a:pPr>
            <a:r>
              <a:rPr lang="en-US" dirty="0"/>
              <a:t>Non-verbal analytics are separated from the final hiring decision to reduce ethical and regulatory risk</a:t>
            </a:r>
            <a:r>
              <a:rPr lang="en-US" spc="-10" dirty="0"/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9804" y="9271"/>
            <a:ext cx="8223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Conclusions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2692" y="9271"/>
            <a:ext cx="44375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320497"/>
            <a:ext cx="71558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5" dirty="0"/>
              <a:t>Future Work</a:t>
            </a:r>
            <a:endParaRPr spc="-9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7161403" y="6633159"/>
            <a:ext cx="1280159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20" dirty="0"/>
              <a:t>TSI</a:t>
            </a:r>
            <a:r>
              <a:rPr spc="-20" dirty="0"/>
              <a:t>,</a:t>
            </a:r>
            <a:r>
              <a:rPr spc="-40" dirty="0"/>
              <a:t> </a:t>
            </a:r>
            <a:r>
              <a:rPr dirty="0"/>
              <a:t>Riga,</a:t>
            </a:r>
            <a:r>
              <a:rPr spc="-30" dirty="0"/>
              <a:t> </a:t>
            </a:r>
            <a:r>
              <a:rPr spc="-10" dirty="0"/>
              <a:t>Latvia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82702" y="6647180"/>
            <a:ext cx="70104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r>
              <a:rPr lang="en-US" spc="-10" dirty="0"/>
              <a:t>20</a:t>
            </a:r>
            <a:r>
              <a:rPr spc="-10" dirty="0"/>
              <a:t>-Apr-</a:t>
            </a:r>
            <a:r>
              <a:rPr spc="-25" dirty="0"/>
              <a:t>26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2975" y="6658320"/>
            <a:ext cx="2178050" cy="169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5"/>
              </a:lnSpc>
            </a:pP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Toufic Jandah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11037" y="1457116"/>
            <a:ext cx="8477885" cy="457817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72110" marR="600075" indent="-360045">
              <a:lnSpc>
                <a:spcPts val="2160"/>
              </a:lnSpc>
              <a:spcBef>
                <a:spcPts val="375"/>
              </a:spcBef>
              <a:buClr>
                <a:srgbClr val="1CACE3"/>
              </a:buClr>
              <a:buAutoNum type="arabicPeriod"/>
              <a:tabLst>
                <a:tab pos="372110" algn="l"/>
              </a:tabLst>
            </a:pPr>
            <a:r>
              <a:rPr lang="en-US" sz="1800" b="1" dirty="0"/>
              <a:t>Larger multimodal datasets:</a:t>
            </a:r>
            <a:r>
              <a:rPr lang="en-US" sz="1800" dirty="0"/>
              <a:t> Improve the robustness of the system by collecting more interview data across different roles, speaking styles, and candidate profiles.</a:t>
            </a:r>
            <a:r>
              <a:rPr sz="1800" spc="-10" dirty="0"/>
              <a:t>.</a:t>
            </a:r>
            <a:endParaRPr sz="1800" dirty="0"/>
          </a:p>
          <a:p>
            <a:pPr marL="372110" indent="-359410">
              <a:lnSpc>
                <a:spcPts val="2280"/>
              </a:lnSpc>
              <a:spcBef>
                <a:spcPts val="1130"/>
              </a:spcBef>
              <a:buClr>
                <a:srgbClr val="1CACE3"/>
              </a:buClr>
              <a:buAutoNum type="arabicPeriod"/>
              <a:tabLst>
                <a:tab pos="372110" algn="l"/>
              </a:tabLst>
            </a:pPr>
            <a:r>
              <a:rPr lang="en-US" sz="1800" b="1" dirty="0"/>
              <a:t>Temporal sequence models:</a:t>
            </a:r>
            <a:r>
              <a:rPr lang="en-US" sz="1800" dirty="0"/>
              <a:t> Extend the current approach with sequence-based models to better capture changes in speech and body language over time.</a:t>
            </a:r>
            <a:endParaRPr sz="1800" dirty="0"/>
          </a:p>
          <a:p>
            <a:pPr marL="372110" marR="99060" indent="-360045">
              <a:lnSpc>
                <a:spcPts val="2160"/>
              </a:lnSpc>
              <a:spcBef>
                <a:spcPts val="1425"/>
              </a:spcBef>
              <a:buClr>
                <a:srgbClr val="1CACE3"/>
              </a:buClr>
              <a:buAutoNum type="arabicPeriod" startAt="3"/>
              <a:tabLst>
                <a:tab pos="372110" algn="l"/>
              </a:tabLst>
            </a:pPr>
            <a:r>
              <a:rPr lang="en-US" sz="1800" b="1" dirty="0"/>
              <a:t>Broader role benchmarking:</a:t>
            </a:r>
            <a:r>
              <a:rPr lang="en-US" sz="1800" dirty="0"/>
              <a:t> Evaluate the platform across more job categories to validate the role-specific scoring logic under different hiring contexts.</a:t>
            </a:r>
            <a:endParaRPr sz="1800" dirty="0"/>
          </a:p>
          <a:p>
            <a:pPr marL="372110" marR="514984" indent="-360045">
              <a:lnSpc>
                <a:spcPts val="2160"/>
              </a:lnSpc>
              <a:spcBef>
                <a:spcPts val="1410"/>
              </a:spcBef>
              <a:buClr>
                <a:srgbClr val="1CACE3"/>
              </a:buClr>
              <a:buAutoNum type="arabicPeriod" startAt="3"/>
              <a:tabLst>
                <a:tab pos="372110" algn="l"/>
              </a:tabLst>
            </a:pPr>
            <a:r>
              <a:rPr lang="en-US" sz="1800" b="1" dirty="0"/>
              <a:t>Fairness calibration:</a:t>
            </a:r>
            <a:r>
              <a:rPr lang="en-US" sz="1800" dirty="0"/>
              <a:t> Compare AI-supported evaluation with human interviewers to improve consistency, reduce bias, and calibrate scoring thresholds</a:t>
            </a:r>
            <a:r>
              <a:rPr sz="1800" spc="-10" dirty="0"/>
              <a:t>.</a:t>
            </a:r>
            <a:endParaRPr sz="1800" dirty="0"/>
          </a:p>
          <a:p>
            <a:pPr marL="372110" indent="-359410">
              <a:lnSpc>
                <a:spcPts val="2280"/>
              </a:lnSpc>
              <a:spcBef>
                <a:spcPts val="1130"/>
              </a:spcBef>
              <a:buClr>
                <a:srgbClr val="1CACE3"/>
              </a:buClr>
              <a:buAutoNum type="arabicPeriod" startAt="3"/>
              <a:tabLst>
                <a:tab pos="372110" algn="l"/>
              </a:tabLst>
            </a:pPr>
            <a:r>
              <a:rPr lang="en-US" sz="1800" b="1" dirty="0"/>
              <a:t>Stronger explainability tools:</a:t>
            </a:r>
            <a:r>
              <a:rPr lang="en-US" sz="1800" dirty="0"/>
              <a:t> Add clearer evidence summaries and reviewer-facing explanations to make recommendations easier to interpret and justify.</a:t>
            </a:r>
            <a:endParaRPr sz="1800" dirty="0"/>
          </a:p>
          <a:p>
            <a:pPr marL="372110" marR="5080" indent="-360045">
              <a:lnSpc>
                <a:spcPts val="2160"/>
              </a:lnSpc>
              <a:spcBef>
                <a:spcPts val="1425"/>
              </a:spcBef>
              <a:buClr>
                <a:srgbClr val="1CACE3"/>
              </a:buClr>
              <a:buAutoNum type="arabicPeriod" startAt="6"/>
              <a:tabLst>
                <a:tab pos="372110" algn="l"/>
              </a:tabLst>
            </a:pPr>
            <a:r>
              <a:rPr lang="en-US" sz="1800" b="1" dirty="0"/>
              <a:t>Deployment and scalability:</a:t>
            </a:r>
            <a:r>
              <a:rPr lang="en-US" sz="1800" dirty="0"/>
              <a:t> Optimize the platform for wider real-time use, including faster inference, more reliable APIs, and smoother enterprise deployment. </a:t>
            </a: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209804" y="9271"/>
            <a:ext cx="9391396" cy="440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585335" algn="l"/>
              </a:tabLst>
            </a:pPr>
            <a:r>
              <a:rPr lang="en-US" sz="1400" spc="-105" dirty="0">
                <a:solidFill>
                  <a:schemeClr val="bg1"/>
                </a:solidFill>
              </a:rPr>
              <a:t>Future Work</a:t>
            </a:r>
            <a:r>
              <a:rPr sz="1300" dirty="0">
                <a:solidFill>
                  <a:schemeClr val="bg1"/>
                </a:solidFill>
                <a:latin typeface="Calibri"/>
                <a:cs typeface="Calibri"/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Multimodal AI-Based Recruitment Evaluation System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5335" algn="l"/>
              </a:tabLst>
            </a:pPr>
            <a:endParaRPr sz="13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53AAB2F-49F5-52F1-59FA-D9E1970CD3E7}"/>
              </a:ext>
            </a:extLst>
          </p:cNvPr>
          <p:cNvSpPr txBox="1">
            <a:spLocks/>
          </p:cNvSpPr>
          <p:nvPr/>
        </p:nvSpPr>
        <p:spPr>
          <a:xfrm>
            <a:off x="563437" y="1609516"/>
            <a:ext cx="8477885" cy="320601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>
            <a:lvl1pPr marL="0">
              <a:defRPr sz="1700" b="0" i="0">
                <a:solidFill>
                  <a:srgbClr val="404040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72110" marR="600075" indent="-360045">
              <a:lnSpc>
                <a:spcPts val="2160"/>
              </a:lnSpc>
              <a:spcBef>
                <a:spcPts val="375"/>
              </a:spcBef>
              <a:buClr>
                <a:srgbClr val="1CACE3"/>
              </a:buClr>
              <a:buFontTx/>
              <a:buAutoNum type="arabicPeriod"/>
              <a:tabLst>
                <a:tab pos="372110" algn="l"/>
              </a:tabLst>
            </a:pPr>
            <a:r>
              <a:rPr lang="en-US" sz="1800" b="1" dirty="0" err="1"/>
              <a:t>Github</a:t>
            </a:r>
            <a:r>
              <a:rPr lang="en-US" sz="1800" b="1" dirty="0"/>
              <a:t> Link: </a:t>
            </a:r>
            <a:r>
              <a:rPr lang="en-US" sz="1800" b="1" dirty="0">
                <a:hlinkClick r:id="rId2"/>
              </a:rPr>
              <a:t>https://github.com/TAJKING10/theiss</a:t>
            </a:r>
            <a:r>
              <a:rPr lang="en-US" sz="1800" b="1" dirty="0"/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05905"/>
            <a:ext cx="9144000" cy="253365"/>
            <a:chOff x="0" y="6605905"/>
            <a:chExt cx="9144000" cy="253365"/>
          </a:xfrm>
        </p:grpSpPr>
        <p:sp>
          <p:nvSpPr>
            <p:cNvPr id="3" name="object 3"/>
            <p:cNvSpPr/>
            <p:nvPr/>
          </p:nvSpPr>
          <p:spPr>
            <a:xfrm>
              <a:off x="4568443" y="6606661"/>
              <a:ext cx="4575810" cy="252095"/>
            </a:xfrm>
            <a:custGeom>
              <a:avLst/>
              <a:gdLst/>
              <a:ahLst/>
              <a:cxnLst/>
              <a:rect l="l" t="t" r="r" b="b"/>
              <a:pathLst>
                <a:path w="4575809" h="252095">
                  <a:moveTo>
                    <a:pt x="4575556" y="0"/>
                  </a:moveTo>
                  <a:lnTo>
                    <a:pt x="0" y="0"/>
                  </a:lnTo>
                  <a:lnTo>
                    <a:pt x="0" y="252094"/>
                  </a:lnTo>
                  <a:lnTo>
                    <a:pt x="4575556" y="252094"/>
                  </a:lnTo>
                  <a:lnTo>
                    <a:pt x="4575556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605905"/>
              <a:ext cx="4568825" cy="252095"/>
            </a:xfrm>
            <a:custGeom>
              <a:avLst/>
              <a:gdLst/>
              <a:ahLst/>
              <a:cxnLst/>
              <a:rect l="l" t="t" r="r" b="b"/>
              <a:pathLst>
                <a:path w="4568825" h="252095">
                  <a:moveTo>
                    <a:pt x="4568444" y="0"/>
                  </a:moveTo>
                  <a:lnTo>
                    <a:pt x="0" y="0"/>
                  </a:lnTo>
                  <a:lnTo>
                    <a:pt x="0" y="252095"/>
                  </a:lnTo>
                  <a:lnTo>
                    <a:pt x="4568444" y="252095"/>
                  </a:lnTo>
                  <a:lnTo>
                    <a:pt x="4568444" y="0"/>
                  </a:lnTo>
                  <a:close/>
                </a:path>
              </a:pathLst>
            </a:custGeom>
            <a:solidFill>
              <a:srgbClr val="2046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836665" y="6599631"/>
            <a:ext cx="32277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 –</a:t>
            </a:r>
            <a:r>
              <a:rPr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Future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5967" y="6625833"/>
            <a:ext cx="1091058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Riga,</a:t>
            </a:r>
            <a:r>
              <a:rPr lang="en-US"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spc="-10" dirty="0">
                <a:solidFill>
                  <a:srgbClr val="FFFFFF"/>
                </a:solidFill>
                <a:latin typeface="Calibri"/>
                <a:cs typeface="Calibri"/>
              </a:rPr>
              <a:t>Latvia</a:t>
            </a:r>
            <a:endParaRPr lang="en-US" sz="13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8891" y="2890827"/>
            <a:ext cx="7046602" cy="46150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93444" y="2683586"/>
            <a:ext cx="70859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1CACE3"/>
                </a:solidFill>
              </a:rPr>
              <a:t>THANK</a:t>
            </a:r>
            <a:r>
              <a:rPr spc="-245" dirty="0">
                <a:solidFill>
                  <a:srgbClr val="1CACE3"/>
                </a:solidFill>
              </a:rPr>
              <a:t> </a:t>
            </a:r>
            <a:r>
              <a:rPr spc="-25" dirty="0">
                <a:solidFill>
                  <a:srgbClr val="1CACE3"/>
                </a:solidFill>
              </a:rPr>
              <a:t>YOU</a:t>
            </a:r>
            <a:r>
              <a:rPr spc="-235" dirty="0">
                <a:solidFill>
                  <a:srgbClr val="1CACE3"/>
                </a:solidFill>
              </a:rPr>
              <a:t> </a:t>
            </a:r>
            <a:r>
              <a:rPr dirty="0">
                <a:solidFill>
                  <a:srgbClr val="1CACE3"/>
                </a:solidFill>
              </a:rPr>
              <a:t>FOR</a:t>
            </a:r>
            <a:r>
              <a:rPr spc="-229" dirty="0">
                <a:solidFill>
                  <a:srgbClr val="1CACE3"/>
                </a:solidFill>
              </a:rPr>
              <a:t> </a:t>
            </a:r>
            <a:r>
              <a:rPr spc="-60" dirty="0">
                <a:solidFill>
                  <a:srgbClr val="1CACE3"/>
                </a:solidFill>
              </a:rPr>
              <a:t>ATTENTION!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301" y="6605422"/>
            <a:ext cx="70104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spc="-10" dirty="0">
                <a:solidFill>
                  <a:srgbClr val="FFFFFF"/>
                </a:solidFill>
                <a:latin typeface="Calibri"/>
                <a:cs typeface="Calibri"/>
              </a:rPr>
              <a:t>20-Apr-</a:t>
            </a:r>
            <a:r>
              <a:rPr lang="en-US" sz="1300" spc="-25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7000" y="4419600"/>
            <a:ext cx="5986906" cy="25564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en-US" sz="2200" spc="110" dirty="0">
                <a:solidFill>
                  <a:srgbClr val="344068"/>
                </a:solidFill>
                <a:latin typeface="Calibri Light"/>
                <a:cs typeface="Calibri Light"/>
              </a:rPr>
              <a:t>                                 Toufic Jandah</a:t>
            </a:r>
            <a:endParaRPr sz="2200" dirty="0">
              <a:latin typeface="Calibri Light"/>
              <a:cs typeface="Calibri Light"/>
            </a:endParaRPr>
          </a:p>
          <a:p>
            <a:pPr marL="1578610" algn="r">
              <a:lnSpc>
                <a:spcPct val="10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344068"/>
                </a:solidFill>
                <a:latin typeface="Calibri Light"/>
                <a:cs typeface="Calibri Light"/>
                <a:hlinkClick r:id="rId3"/>
              </a:rPr>
              <a:t>Toufic-Jandah@hotmail.com</a:t>
            </a:r>
            <a:endParaRPr lang="en-US" sz="1800" dirty="0">
              <a:solidFill>
                <a:srgbClr val="344068"/>
              </a:solidFill>
              <a:latin typeface="Calibri Light"/>
              <a:cs typeface="Calibri Light"/>
            </a:endParaRPr>
          </a:p>
          <a:p>
            <a:pPr marL="1578610" algn="r">
              <a:lnSpc>
                <a:spcPct val="10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344068"/>
                </a:solidFill>
                <a:latin typeface="Calibri Light"/>
                <a:cs typeface="Calibri Light"/>
              </a:rPr>
              <a:t>Demo Video: </a:t>
            </a:r>
            <a:r>
              <a:rPr lang="en-US" sz="1800" dirty="0">
                <a:solidFill>
                  <a:srgbClr val="344068"/>
                </a:solidFill>
                <a:latin typeface="Calibri Light"/>
                <a:cs typeface="Calibri Light"/>
                <a:hlinkClick r:id="rId4"/>
              </a:rPr>
              <a:t>https://youtu.be/CO4d5y-fKm8</a:t>
            </a:r>
            <a:br>
              <a:rPr lang="en-US" sz="1800" dirty="0">
                <a:solidFill>
                  <a:srgbClr val="344068"/>
                </a:solidFill>
                <a:latin typeface="Calibri Light"/>
                <a:cs typeface="Calibri Light"/>
              </a:rPr>
            </a:br>
            <a:r>
              <a:rPr lang="en-US" sz="1800" dirty="0">
                <a:solidFill>
                  <a:srgbClr val="344068"/>
                </a:solidFill>
                <a:latin typeface="Calibri Light"/>
                <a:cs typeface="Calibri Light"/>
              </a:rPr>
              <a:t>`</a:t>
            </a:r>
          </a:p>
          <a:p>
            <a:pPr marL="1578610" algn="r">
              <a:lnSpc>
                <a:spcPct val="10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344068"/>
                </a:solidFill>
                <a:latin typeface="Calibri Light"/>
                <a:cs typeface="Calibri Light"/>
              </a:rPr>
              <a:t> </a:t>
            </a:r>
          </a:p>
          <a:p>
            <a:pPr marL="1578610" algn="r">
              <a:lnSpc>
                <a:spcPct val="100000"/>
              </a:lnSpc>
              <a:spcBef>
                <a:spcPts val="1600"/>
              </a:spcBef>
            </a:pP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AA8AFD39-821B-C208-6CC9-58DD9E14D06E}"/>
              </a:ext>
            </a:extLst>
          </p:cNvPr>
          <p:cNvSpPr txBox="1">
            <a:spLocks/>
          </p:cNvSpPr>
          <p:nvPr/>
        </p:nvSpPr>
        <p:spPr>
          <a:xfrm>
            <a:off x="3962400" y="5796830"/>
            <a:ext cx="8477885" cy="320601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>
            <a:lvl1pPr marL="0">
              <a:defRPr sz="1700" b="0" i="0">
                <a:solidFill>
                  <a:srgbClr val="404040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marR="600075">
              <a:lnSpc>
                <a:spcPts val="2160"/>
              </a:lnSpc>
              <a:spcBef>
                <a:spcPts val="375"/>
              </a:spcBef>
              <a:buClr>
                <a:srgbClr val="1CACE3"/>
              </a:buClr>
              <a:tabLst>
                <a:tab pos="372110" algn="l"/>
              </a:tabLst>
            </a:pPr>
            <a:r>
              <a:rPr lang="en-US" sz="1800" dirty="0" err="1"/>
              <a:t>Github</a:t>
            </a:r>
            <a:r>
              <a:rPr lang="en-US" sz="1800" dirty="0"/>
              <a:t> Link: </a:t>
            </a:r>
            <a:r>
              <a:rPr lang="en-US" sz="1800" dirty="0">
                <a:hlinkClick r:id="rId5"/>
              </a:rPr>
              <a:t>https://github.com/TAJKING10/theiss</a:t>
            </a:r>
            <a:r>
              <a:rPr lang="en-US" sz="1800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2839</Words>
  <Application>Microsoft Office PowerPoint</Application>
  <PresentationFormat>On-screen Show (4:3)</PresentationFormat>
  <Paragraphs>464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MT</vt:lpstr>
      <vt:lpstr>Calibri</vt:lpstr>
      <vt:lpstr>Calibri Light</vt:lpstr>
      <vt:lpstr>Office Theme</vt:lpstr>
      <vt:lpstr>PowerPoint Presentation</vt:lpstr>
      <vt:lpstr>Problem and Motivation</vt:lpstr>
      <vt:lpstr>Research Question</vt:lpstr>
      <vt:lpstr>PowerPoint Presentation</vt:lpstr>
      <vt:lpstr>Objectives</vt:lpstr>
      <vt:lpstr>Literature Review</vt:lpstr>
      <vt:lpstr>Research Methodology</vt:lpstr>
      <vt:lpstr>System Architecture</vt:lpstr>
      <vt:lpstr>Research Gap, Market Comparison</vt:lpstr>
      <vt:lpstr>Scientific Novelty </vt:lpstr>
      <vt:lpstr>System Architecture and Proposed Framework</vt:lpstr>
      <vt:lpstr>Type of AI Agents in the System</vt:lpstr>
      <vt:lpstr>Datasets and Training Pipelines</vt:lpstr>
      <vt:lpstr>Speech Emotions Analysis Service</vt:lpstr>
      <vt:lpstr>Body Language Analysis Service</vt:lpstr>
      <vt:lpstr>Competency Scoring and Hiring Logic</vt:lpstr>
      <vt:lpstr>APIs, Database Schema, and Storage Design</vt:lpstr>
      <vt:lpstr>Explainability and EU AI Act Aligned Design</vt:lpstr>
      <vt:lpstr>Regulatory, Ethical, and Economic Context</vt:lpstr>
      <vt:lpstr>Multimodal AI-Based Recruitment Evaluation System</vt:lpstr>
      <vt:lpstr>Conclusions</vt:lpstr>
      <vt:lpstr>Future Work</vt:lpstr>
      <vt:lpstr>THANK YOU FOR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Pavlyuk</dc:creator>
  <cp:lastModifiedBy>Toufic Jandah</cp:lastModifiedBy>
  <cp:revision>2</cp:revision>
  <dcterms:created xsi:type="dcterms:W3CDTF">2026-04-20T09:05:50Z</dcterms:created>
  <dcterms:modified xsi:type="dcterms:W3CDTF">2026-06-11T09:57:48Z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2026-04-15T00:00:00Z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2026-04-20T00:00:00Z</vt:filetime>
  </property>
  <property fmtid="{D5CDD505-2E9C-101B-9397-08002B2CF9AE}" pid="6" name="Producer">
    <vt:lpwstr>Microsoft® PowerPoint® for Microsoft 365</vt:lpwstr>
  </property>
</Properties>
</file>